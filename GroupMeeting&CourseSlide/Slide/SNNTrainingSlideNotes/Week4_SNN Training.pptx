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sldIdLst>
    <p:sldId id="257" r:id="rId4"/>
    <p:sldId id="258" r:id="rId6"/>
    <p:sldId id="548" r:id="rId7"/>
    <p:sldId id="567" r:id="rId8"/>
    <p:sldId id="568" r:id="rId9"/>
    <p:sldId id="554" r:id="rId10"/>
    <p:sldId id="555" r:id="rId11"/>
    <p:sldId id="569" r:id="rId12"/>
    <p:sldId id="570" r:id="rId13"/>
    <p:sldId id="571" r:id="rId14"/>
    <p:sldId id="572" r:id="rId15"/>
    <p:sldId id="579" r:id="rId16"/>
    <p:sldId id="573" r:id="rId17"/>
    <p:sldId id="574" r:id="rId18"/>
    <p:sldId id="576" r:id="rId19"/>
    <p:sldId id="578" r:id="rId20"/>
    <p:sldId id="577" r:id="rId21"/>
    <p:sldId id="565" r:id="rId22"/>
    <p:sldId id="566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1" autoAdjust="0"/>
    <p:restoredTop sz="70867" autoAdjust="0"/>
  </p:normalViewPr>
  <p:slideViewPr>
    <p:cSldViewPr snapToGrid="0">
      <p:cViewPr varScale="1">
        <p:scale>
          <a:sx n="68" d="100"/>
          <a:sy n="68" d="100"/>
        </p:scale>
        <p:origin x="831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6F1B72-1F8A-48DA-94DF-978082504800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27C95F4-9479-47C4-9CC0-82E2C085454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27C95F4-9479-47C4-9CC0-82E2C085454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derivative of the step function with a smooth approximation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Key Insight</a:t>
            </a: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Forward pass remains biologically plausible. 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Backward pass becomes differentiable. 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Enables gradient-based optimization.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800" b="0" i="1" u="none" strike="noStrike" baseline="0" dirty="0">
                <a:latin typeface="CMMI12"/>
                <a:ea typeface="仿宋" panose="02010609060101010101" pitchFamily="49" charset="-122"/>
              </a:rPr>
              <a:t>α </a:t>
            </a:r>
            <a:r>
              <a:rPr lang="zh-CN" altLang="en-US" sz="1800" b="0" i="0" u="none" strike="noStrike" baseline="0" dirty="0">
                <a:latin typeface="仿宋" panose="02010609060101010101" pitchFamily="49" charset="-122"/>
                <a:ea typeface="仿宋" panose="02010609060101010101" pitchFamily="49" charset="-122"/>
              </a:rPr>
              <a:t>是控制曲线陡峭程度的超参数</a:t>
            </a:r>
            <a:endParaRPr lang="en-US" altLang="zh-CN" sz="1800" b="0" i="0" u="none" strike="noStrike" baseline="0" dirty="0">
              <a:latin typeface="TimesNewRomanPSMT"/>
              <a:ea typeface="仿宋" panose="02010609060101010101" pitchFamily="49" charset="-122"/>
            </a:endParaRPr>
          </a:p>
          <a:p>
            <a:pPr algn="l"/>
            <a:r>
              <a:rPr lang="zh-CN" altLang="en-US" sz="1800" b="0" i="0" u="none" strike="noStrike" baseline="0" dirty="0">
                <a:latin typeface="仿宋" panose="02010609060101010101" pitchFamily="49" charset="-122"/>
                <a:ea typeface="仿宋" panose="02010609060101010101" pitchFamily="49" charset="-122"/>
              </a:rPr>
              <a:t>通过调节</a:t>
            </a:r>
            <a:r>
              <a:rPr lang="en-US" altLang="zh-CN" sz="1800" b="0" i="1" u="none" strike="noStrike" baseline="0" dirty="0">
                <a:latin typeface="CMMI12"/>
                <a:ea typeface="仿宋" panose="02010609060101010101" pitchFamily="49" charset="-122"/>
              </a:rPr>
              <a:t>α</a:t>
            </a:r>
            <a:r>
              <a:rPr lang="zh-CN" altLang="en-US" sz="1800" b="0" i="0" u="none" strike="noStrike" baseline="0" dirty="0">
                <a:latin typeface="仿宋" panose="02010609060101010101" pitchFamily="49" charset="-122"/>
                <a:ea typeface="仿宋" panose="02010609060101010101" pitchFamily="49" charset="-122"/>
              </a:rPr>
              <a:t>，模型可以在梯度的</a:t>
            </a:r>
            <a:endParaRPr lang="zh-CN" altLang="en-US" sz="1800" b="0" i="0" u="none" strike="noStrike" baseline="0" dirty="0">
              <a:latin typeface="仿宋" panose="02010609060101010101" pitchFamily="49" charset="-122"/>
              <a:ea typeface="仿宋" panose="02010609060101010101" pitchFamily="49" charset="-122"/>
            </a:endParaRPr>
          </a:p>
          <a:p>
            <a:pPr algn="l"/>
            <a:r>
              <a:rPr lang="zh-CN" altLang="en-US" sz="1800" b="0" i="0" u="none" strike="noStrike" baseline="0" dirty="0">
                <a:latin typeface="仿宋" panose="02010609060101010101" pitchFamily="49" charset="-122"/>
                <a:ea typeface="仿宋" panose="02010609060101010101" pitchFamily="49" charset="-122"/>
              </a:rPr>
              <a:t>准确性与传播的有效性之间取得平衡，从而实现</a:t>
            </a:r>
            <a:r>
              <a:rPr lang="en-US" altLang="zh-CN" sz="1800" b="0" i="0" u="none" strike="noStrike" baseline="0" dirty="0">
                <a:latin typeface="TimesNewRomanPSMT"/>
                <a:ea typeface="仿宋" panose="02010609060101010101" pitchFamily="49" charset="-122"/>
              </a:rPr>
              <a:t>SNN </a:t>
            </a:r>
            <a:r>
              <a:rPr lang="zh-CN" altLang="en-US" sz="1800" b="0" i="0" u="none" strike="noStrike" baseline="0" dirty="0">
                <a:latin typeface="仿宋" panose="02010609060101010101" pitchFamily="49" charset="-122"/>
                <a:ea typeface="仿宋" panose="02010609060101010101" pitchFamily="49" charset="-122"/>
              </a:rPr>
              <a:t>的高性能训练。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compute gradients:</a:t>
            </a:r>
            <a:endParaRPr lang="en-US" dirty="0"/>
          </a:p>
          <a:p>
            <a:r>
              <a:rPr lang="en-US" dirty="0"/>
              <a:t>✓ Store membrane potentials</a:t>
            </a:r>
            <a:endParaRPr lang="en-US" dirty="0"/>
          </a:p>
          <a:p>
            <a:r>
              <a:rPr lang="en-US" dirty="0"/>
              <a:t>✓ Store spikes</a:t>
            </a:r>
            <a:endParaRPr lang="en-US" dirty="0"/>
          </a:p>
          <a:p>
            <a:r>
              <a:rPr lang="en-US" dirty="0"/>
              <a:t>✓ Store computation graph</a:t>
            </a:r>
            <a:endParaRPr lang="en-US" dirty="0"/>
          </a:p>
          <a:p>
            <a:r>
              <a:rPr lang="en-US" dirty="0"/>
              <a:t>for every timestep.</a:t>
            </a:r>
            <a:endParaRPr lang="en-US" dirty="0"/>
          </a:p>
          <a:p>
            <a:endParaRPr lang="en-US" dirty="0"/>
          </a:p>
          <a:p>
            <a:r>
              <a:rPr lang="en-US" dirty="0"/>
              <a:t>Temporal dependencies are coupled across all timesteps.</a:t>
            </a:r>
            <a:br>
              <a:rPr lang="en-US" dirty="0"/>
            </a:br>
            <a:r>
              <a:rPr lang="en-US" dirty="0"/>
              <a:t>may cause: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vanishing gradients 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exploding gradients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only local information: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BPTT remembers every timestep and computes gradients later; Online Learning summarizes the past into an eligibility trace and updates weights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BPTT remembers every timestep and computes gradients later; Online Learning summarizes the past into an eligibility trace and updates weights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 dirty="0"/>
              <a:t>Click to edit Master subtitle style</a:t>
            </a:r>
            <a:endParaRPr lang="zh-CN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DC942-475A-4069-94A2-11EB87937FD4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4D187-79CA-49C9-AC45-7398EC219FEB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EF72E-264F-40E9-86EF-DDFC8BEA29BE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EDC1F-6584-473C-AC6C-8F1A8A7EB5C8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1681B-E263-42AF-ACA7-AB753620E14D}" type="datetime1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D2BBB-8843-40DB-B672-A0CA5D7101CE}" type="datetime1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1B7B1-DA79-4221-A5A5-460CD134413C}" type="datetime1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A8B25-E15D-49B8-BC14-F9CBE12C3CE7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91504F-6E90-4C51-838A-7127758B1AC9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C43C7-A0FE-4403-800C-056E5346ED83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B2655-FAB5-4AA0-B2E3-3B849CA19F9E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 dirty="0"/>
              <a:t>Click to edit Master subtitle style</a:t>
            </a:r>
            <a:endParaRPr lang="zh-CN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DC942-475A-4069-94A2-11EB87937FD4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4D187-79CA-49C9-AC45-7398EC219FEB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EF72E-264F-40E9-86EF-DDFC8BEA29BE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EDC1F-6584-473C-AC6C-8F1A8A7EB5C8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1681B-E263-42AF-ACA7-AB753620E14D}" type="datetime1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D2BBB-8843-40DB-B672-A0CA5D7101CE}" type="datetime1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1B7B1-DA79-4221-A5A5-460CD134413C}" type="datetime1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A8B25-E15D-49B8-BC14-F9CBE12C3CE7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91504F-6E90-4C51-838A-7127758B1AC9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C43C7-A0FE-4403-800C-056E5346ED83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B2655-FAB5-4AA0-B2E3-3B849CA19F9E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3466" y="136525"/>
            <a:ext cx="1180506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466" y="1549552"/>
            <a:ext cx="11805068" cy="4703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0CB939-C62B-4AC8-AC93-4DE9ACFF5AC4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baseline="0">
          <a:solidFill>
            <a:schemeClr val="tx1"/>
          </a:solidFill>
          <a:latin typeface="Arial" panose="020B060402020202020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3466" y="136525"/>
            <a:ext cx="1180506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466" y="1549552"/>
            <a:ext cx="11805068" cy="4703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0CB939-C62B-4AC8-AC93-4DE9ACFF5AC4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baseline="0">
          <a:solidFill>
            <a:schemeClr val="tx1"/>
          </a:solidFill>
          <a:latin typeface="Arial" panose="020B060402020202020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057" y="2145051"/>
            <a:ext cx="11876314" cy="2387600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Neuromorphic Computing &amp; Hardware</a:t>
            </a:r>
            <a:br>
              <a:rPr lang="en-US" altLang="zh-CN" dirty="0"/>
            </a:br>
            <a:br>
              <a:rPr lang="en-US" altLang="zh-CN" dirty="0"/>
            </a:br>
            <a:r>
              <a:rPr lang="en-US" altLang="zh-CN" sz="6000" dirty="0">
                <a:effectLst/>
                <a:ea typeface="Calibri Light" panose="020F0302020204030204" pitchFamily="34" charset="0"/>
              </a:rPr>
              <a:t>L4: </a:t>
            </a:r>
            <a:r>
              <a:rPr lang="en-US" dirty="0"/>
              <a:t>SNN Training</a:t>
            </a:r>
            <a:br>
              <a:rPr lang="en-US" altLang="zh-CN" sz="6000" dirty="0">
                <a:effectLst/>
                <a:ea typeface="Calibri Light" panose="020F0302020204030204" pitchFamily="34" charset="0"/>
              </a:rPr>
            </a:b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540501"/>
            <a:ext cx="9144000" cy="1655762"/>
          </a:xfrm>
        </p:spPr>
        <p:txBody>
          <a:bodyPr/>
          <a:lstStyle/>
          <a:p>
            <a:endParaRPr lang="en-US" altLang="zh-CN" dirty="0"/>
          </a:p>
          <a:p>
            <a:r>
              <a:rPr lang="en-US" altLang="zh-CN" dirty="0"/>
              <a:t>Intelli-Chip</a:t>
            </a:r>
            <a:r>
              <a:rPr lang="zh-CN" altLang="en-US" dirty="0"/>
              <a:t> </a:t>
            </a:r>
            <a:r>
              <a:rPr lang="en-US" altLang="zh-CN" dirty="0"/>
              <a:t>Lab</a:t>
            </a:r>
            <a:endParaRPr lang="en-US" altLang="zh-CN" dirty="0"/>
          </a:p>
          <a:p>
            <a:r>
              <a:rPr lang="en-US" altLang="zh-CN" dirty="0"/>
              <a:t>Fall 2026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Objectives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rtl="0" fontAlgn="ctr">
              <a:buNone/>
            </a:pPr>
            <a:r>
              <a:rPr lang="en-US" altLang="zh-CN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After this lecture, students should be able to:</a:t>
            </a:r>
            <a:endParaRPr lang="en-US" altLang="zh-CN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 rtl="0" fontAlgn="ctr">
              <a:buNone/>
            </a:pPr>
            <a:r>
              <a:rPr lang="en-US" altLang="zh-CN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✓ Understand surrogate-gradient training</a:t>
            </a:r>
            <a:endParaRPr lang="en-US" altLang="zh-CN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 rtl="0" fontAlgn="ctr">
              <a:buNone/>
            </a:pPr>
            <a:r>
              <a:rPr lang="en-US" altLang="zh-CN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✓ Recognize tradeoffs between accuracy, latency and hardware efficiency</a:t>
            </a:r>
            <a:endParaRPr lang="en-US" altLang="zh-CN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rtl="0" fontAlgn="ctr">
              <a:buFont typeface="Arial" panose="020B0604020202020204" pitchFamily="34" charset="0"/>
              <a:buChar char="•"/>
            </a:pP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en-US" altLang="zh-C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48F63A3B-78C7-47BE-AE5E-E10140E0464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等线" panose="02010600030101010101" charset="-122"/>
                <a:ea typeface="+mn-ea"/>
                <a:cs typeface="+mn-cs"/>
              </a:rPr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等线" panose="02010600030101010101" charset="-122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en-US" altLang="zh-CN"/>
              <a:t>SNN Training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等线" panose="02010600030101010101" charset="-122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SNN </a:t>
            </a:r>
            <a:r>
              <a:rPr dirty="0"/>
              <a:t>Training Challenge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Deep learning relies on gradient descent.</a:t>
                </a:r>
                <a:endParaRPr lang="en-US" dirty="0"/>
              </a:p>
              <a:p>
                <a:r>
                  <a:rPr lang="en-US" dirty="0"/>
                  <a:t>SNN neurons generate binary spikes through a threshold function.</a:t>
                </a:r>
                <a:endParaRPr lang="en-US" dirty="0"/>
              </a:p>
              <a:p>
                <a:r>
                  <a:rPr lang="en-US" dirty="0"/>
                  <a:t>Spike function is non-differentiable.</a:t>
                </a:r>
                <a:endParaRPr lang="en-US" dirty="0"/>
              </a:p>
              <a:p>
                <a:r>
                  <a:rPr lang="en-US" dirty="0"/>
                  <a:t>Standard backpropagation cannot directly compute gradients.</a:t>
                </a:r>
                <a:endParaRPr lang="en-US" dirty="0"/>
              </a:p>
              <a:p>
                <a:r>
                  <a:rPr lang="en-US" dirty="0"/>
                  <a:t>Membrane potential: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]+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Spike generation: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]=</m:t>
                      </m:r>
                      <m:r>
                        <m:rPr>
                          <m:sty m:val="p"/>
                        </m:rPr>
                        <a:rPr lang="el-GR" i="0" dirty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]−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𝑉𝑡ℎ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l-GR" dirty="0"/>
              </a:p>
              <a:p>
                <a:r>
                  <a:rPr lang="en-US" b="1" dirty="0">
                    <a:solidFill>
                      <a:srgbClr val="FF0000"/>
                    </a:solidFill>
                  </a:rPr>
                  <a:t>Key Problem</a:t>
                </a: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l-GR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)/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Surrogate Gradient Learning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1" dirty="0"/>
                  <a:t>Core Idea</a:t>
                </a:r>
                <a:endParaRPr lang="en-US" b="1" dirty="0"/>
              </a:p>
              <a:p>
                <a:r>
                  <a:rPr lang="en-US" dirty="0"/>
                  <a:t>Forward pass: 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]=</m:t>
                    </m:r>
                    <m:r>
                      <m:rPr>
                        <m:sty m:val="p"/>
                      </m:rPr>
                      <a:rPr lang="el-GR" i="0" dirty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]−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𝑉𝑡ℎ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Backward pass: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​≈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𝑉𝑡ℎ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​)</m:t>
                      </m:r>
                    </m:oMath>
                  </m:oMathPara>
                </a14:m>
                <a:endParaRPr lang="el-GR" dirty="0"/>
              </a:p>
              <a:p>
                <a:r>
                  <a:rPr lang="en-US" dirty="0"/>
                  <a:t>Common Surrogate Functions</a:t>
                </a:r>
                <a:endParaRPr lang="en-US" dirty="0"/>
              </a:p>
              <a:p>
                <a:pPr lvl="1"/>
                <a:r>
                  <a:rPr lang="en-US" dirty="0"/>
                  <a:t>Sigmoid: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l-GR" b="0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l-GR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Fast Sigmoid: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|)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 err="1"/>
                  <a:t>ArcTan</a:t>
                </a:r>
                <a:r>
                  <a:rPr lang="en-US" dirty="0"/>
                  <a:t>: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Piecewise Linear: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−|&amp;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|,  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|&lt;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𝑜𝑡ℎ𝑒𝑤𝑖𝑠𝑒</m:t>
                            </m:r>
                          </m:e>
                        </m:eqArr>
                      </m:e>
                    </m:d>
                  </m:oMath>
                </a14:m>
                <a:endParaRPr lang="en-US" b="1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-68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Sigmoid Surrogate Example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3466" y="2403566"/>
                <a:ext cx="3054831" cy="384939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400" b="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l-GR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4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l-GR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 dirty="0">
                                          <a:latin typeface="Cambria Math" panose="02040503050406030204" pitchFamily="18" charset="0"/>
                                        </a:rPr>
                                        <m:t>e</m:t>
                                      </m:r>
                                    </m:e>
                                    <m:sup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466" y="2403566"/>
                <a:ext cx="3054831" cy="3849397"/>
              </a:xfrm>
              <a:blipFill rotWithShape="1">
                <a:blip r:embed="rId1"/>
                <a:stretch>
                  <a:fillRect l="-14" t="-2" r="9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713" y="1549552"/>
            <a:ext cx="9078287" cy="440027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Direct SNN Training</a:t>
            </a:r>
            <a:r>
              <a:rPr lang="en-US" dirty="0"/>
              <a:t> via STBP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Train SNN parameters directly from task loss.</a:t>
                </a:r>
                <a:endParaRPr lang="en-US" dirty="0"/>
              </a:p>
              <a:p>
                <a:r>
                  <a:rPr lang="en-US" b="1" dirty="0" err="1"/>
                  <a:t>Spatio</a:t>
                </a:r>
                <a:r>
                  <a:rPr lang="en-US" b="1" dirty="0"/>
                  <a:t>-Temporal Backpropagation (STBP)</a:t>
                </a:r>
                <a:endParaRPr lang="en-US" b="1" dirty="0"/>
              </a:p>
              <a:p>
                <a:r>
                  <a:rPr lang="en-US" dirty="0"/>
                  <a:t>View SNN as a recurrent neural network.</a:t>
                </a:r>
                <a:endParaRPr lang="en-US" dirty="0"/>
              </a:p>
              <a:p>
                <a:r>
                  <a:rPr lang="en-US" dirty="0"/>
                  <a:t>Error propagates through:</a:t>
                </a:r>
                <a:endParaRPr lang="en-US" dirty="0"/>
              </a:p>
              <a:p>
                <a:pPr lvl="1"/>
                <a:r>
                  <a:rPr lang="en-US" dirty="0"/>
                  <a:t>spatial connections </a:t>
                </a:r>
                <a:endParaRPr lang="en-US" dirty="0"/>
              </a:p>
              <a:p>
                <a:pPr lvl="1"/>
                <a:r>
                  <a:rPr lang="en-US" dirty="0"/>
                  <a:t>temporal neuron states</a:t>
                </a:r>
                <a:endParaRPr lang="en-US" dirty="0"/>
              </a:p>
              <a:p>
                <a:r>
                  <a:rPr lang="en-US" b="1" dirty="0"/>
                  <a:t>Temporal Unrolling</a:t>
                </a:r>
                <a:endParaRPr lang="en-US" b="1" dirty="0"/>
              </a:p>
              <a:p>
                <a:r>
                  <a:rPr lang="en-US" dirty="0"/>
                  <a:t>The recurrent neuron is unfolded through time: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A recurrent SNN becomes a deep feedforward graph with shared weights.</a:t>
                </a:r>
                <a:endParaRPr lang="en-US" dirty="0"/>
              </a:p>
              <a:p>
                <a:endParaRPr lang="en-US" dirty="0"/>
              </a:p>
              <a:p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219" r="2" b="-174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Backpropagation Through Time</a:t>
            </a:r>
            <a:r>
              <a:rPr lang="en-US" dirty="0"/>
              <a:t> (BPTT)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Unroll the network over time and accumulate gradients</a:t>
            </a:r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"/>
          <a:srcRect r="76518"/>
          <a:stretch>
            <a:fillRect/>
          </a:stretch>
        </p:blipFill>
        <p:spPr>
          <a:xfrm>
            <a:off x="1089662" y="2458452"/>
            <a:ext cx="2862942" cy="34215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"/>
          <a:srcRect l="51447" r="25071"/>
          <a:stretch>
            <a:fillRect/>
          </a:stretch>
        </p:blipFill>
        <p:spPr>
          <a:xfrm>
            <a:off x="6807927" y="2458452"/>
            <a:ext cx="2862942" cy="34215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Backpropagation Through Time</a:t>
            </a:r>
            <a:r>
              <a:rPr lang="en-US" dirty="0"/>
              <a:t> (BPTT)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Unroll the network over time and accumulate gradients</a:t>
                </a:r>
                <a:endParaRPr lang="en-US" dirty="0"/>
              </a:p>
              <a:p>
                <a:r>
                  <a:rPr lang="en-US" b="1" dirty="0"/>
                  <a:t>Gradient Computation</a:t>
                </a:r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𝑊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den>
                          </m:f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den>
                          </m:f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num>
                        <m:den>
                          <m:r>
                            <a:rPr lang="en-US" b="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Spatial Gradient</a:t>
                </a:r>
                <a:endParaRPr lang="en-US" dirty="0"/>
              </a:p>
              <a:p>
                <a:r>
                  <a:rPr lang="en-US" dirty="0"/>
                  <a:t>Temporal Gradient</a:t>
                </a:r>
                <a:endParaRPr lang="en-US" dirty="0"/>
              </a:p>
              <a:p>
                <a:r>
                  <a:rPr lang="en-US" dirty="0"/>
                  <a:t>Captures </a:t>
                </a:r>
                <a:r>
                  <a:rPr lang="en-US" dirty="0" err="1"/>
                  <a:t>coplete</a:t>
                </a:r>
                <a:r>
                  <a:rPr lang="en-US" dirty="0"/>
                  <a:t> </a:t>
                </a:r>
                <a:r>
                  <a:rPr lang="en-US" dirty="0" err="1"/>
                  <a:t>spatio</a:t>
                </a:r>
                <a:r>
                  <a:rPr lang="en-US" dirty="0"/>
                  <a:t>-temporal dynamics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of BPTT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Memory complexity: </a:t>
                </a: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Long Dependency Problem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Hardware Challenge</a:t>
                </a:r>
                <a:endParaRPr lang="en-US" dirty="0"/>
              </a:p>
              <a:p>
                <a:pPr lvl="1"/>
                <a:r>
                  <a:rPr lang="en-US" dirty="0"/>
                  <a:t>Requires full sequence storage. </a:t>
                </a:r>
                <a:endParaRPr lang="en-US" dirty="0"/>
              </a:p>
              <a:p>
                <a:pPr lvl="1"/>
                <a:r>
                  <a:rPr lang="en-US" dirty="0"/>
                  <a:t>Not suitable for edge neuromorphic devices. </a:t>
                </a:r>
                <a:endParaRPr lang="en-US" dirty="0"/>
              </a:p>
              <a:p>
                <a:pPr lvl="1"/>
                <a:r>
                  <a:rPr lang="en-US" dirty="0"/>
                  <a:t>Violates biological real-time processing.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for SNNs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Can we update weights immediately without storing all history?</a:t>
                </a:r>
                <a:endParaRPr lang="en-US" dirty="0"/>
              </a:p>
              <a:p>
                <a:r>
                  <a:rPr lang="en-US" dirty="0"/>
                  <a:t>Core Idea</a:t>
                </a:r>
                <a:endParaRPr lang="en-US" dirty="0"/>
              </a:p>
              <a:p>
                <a:r>
                  <a:rPr lang="en-US" dirty="0"/>
                  <a:t>Instead of computing</a:t>
                </a:r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𝑊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after observing all timesteps,</a:t>
                </a:r>
                <a:endParaRPr lang="en-US" dirty="0"/>
              </a:p>
              <a:p>
                <a:r>
                  <a:rPr lang="en-US" dirty="0"/>
                  <a:t>compute updates immediately at timestep t: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0" dirty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using only local information.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Eligibility Trace: Replacing BPTT Memory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altLang="zh-CN" b="1"/>
                  <a:t>The Bottleneck of BPTT</a:t>
                </a:r>
                <a:r>
                  <a:rPr lang="zh-CN" altLang="en-US" b="1"/>
                  <a:t>：</a:t>
                </a:r>
                <a:endParaRPr lang="zh-CN" altLang="en-US" b="1"/>
              </a:p>
              <a:p>
                <a:pPr lvl="1"/>
                <a:r>
                  <a:rPr lang="en-US" altLang="zh-CN"/>
                  <a:t>Unrolls the computational graph over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zh-CN"/>
                  <a:t> time steps.</a:t>
                </a:r>
                <a:endParaRPr lang="en-US" altLang="zh-CN"/>
              </a:p>
              <a:p>
                <a:pPr lvl="1"/>
                <a:r>
                  <a:rPr lang="en-US" altLang="zh-CN"/>
                  <a:t>Memory complexity: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×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/>
                  <a:t> (stores all states).</a:t>
                </a:r>
                <a:endParaRPr lang="en-US" altLang="zh-CN"/>
              </a:p>
              <a:p>
                <a:pPr lvl="1"/>
                <a:r>
                  <a:rPr lang="en-US" altLang="zh-CN"/>
                  <a:t>Prevents online / on-device learning.</a:t>
                </a:r>
                <a:endParaRPr lang="en-US" altLang="zh-CN"/>
              </a:p>
              <a:p>
                <a:pPr marL="228600" lvl="1" algn="l">
                  <a:spcBef>
                    <a:spcPts val="1000"/>
                  </a:spcBef>
                  <a:buClrTx/>
                  <a:buSzTx/>
                </a:pPr>
                <a:r>
                  <a:rPr lang="en-US" altLang="zh-CN" sz="2800" b="1"/>
                  <a:t>Core Idea of Eligibility Trace:</a:t>
                </a:r>
                <a:endParaRPr lang="en-US" altLang="zh-CN" sz="2800" b="1"/>
              </a:p>
              <a:p>
                <a:pPr lvl="2" algn="l">
                  <a:spcBef>
                    <a:spcPts val="1000"/>
                  </a:spcBef>
                  <a:buClrTx/>
                  <a:buSzTx/>
                </a:pPr>
                <a:r>
                  <a:rPr lang="en-US" altLang="zh-CN" sz="2400"/>
                  <a:t>Replace historical memory with a recursive state.</a:t>
                </a:r>
                <a:endParaRPr lang="en-US" altLang="zh-CN" sz="2400"/>
              </a:p>
              <a:p>
                <a:pPr lvl="2" algn="l">
                  <a:spcBef>
                    <a:spcPts val="1000"/>
                  </a:spcBef>
                  <a:buClrTx/>
                  <a:buSzTx/>
                </a:pPr>
                <a:r>
                  <a:rPr lang="en-US" altLang="zh-CN" sz="2400"/>
                  <a:t>Accumulates past effects into a local ”trace”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𝑗𝑖</m:t>
                        </m:r>
                      </m:sub>
                      <m:sup>
                        <m:r>
                          <a:rPr lang="en-US" sz="2400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en-US" altLang="zh-CN" sz="2400"/>
              </a:p>
              <a:p>
                <a:pPr lvl="2" algn="l">
                  <a:spcBef>
                    <a:spcPts val="1000"/>
                  </a:spcBef>
                  <a:buClrTx/>
                  <a:buSzTx/>
                </a:pPr>
                <a:r>
                  <a:rPr lang="en-US" altLang="zh-CN" sz="2400"/>
                  <a:t>Enables forward-in-time gradient computation.</a:t>
                </a:r>
                <a:endParaRPr lang="en-US" altLang="zh-CN" sz="2400"/>
              </a:p>
              <a:p>
                <a:pPr lvl="2" algn="l">
                  <a:spcBef>
                    <a:spcPts val="1000"/>
                  </a:spcBef>
                  <a:buClrTx/>
                  <a:buSzTx/>
                </a:pP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𝛥</m:t>
                    </m:r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𝑗𝑖</m:t>
                        </m:r>
                      </m:sub>
                    </m:sSub>
                    <m:r>
                      <a:rPr lang="en-US" altLang="zh-CN" sz="2400" i="1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altLang="zh-CN" sz="2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𝑡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altLang="zh-CN" sz="2400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</m:nary>
                    <m:r>
                      <a:rPr lang="en-US" altLang="zh-CN" sz="2400" i="1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altLang="zh-CN" sz="2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𝑗𝑖</m:t>
                        </m:r>
                      </m:sub>
                      <m:sup>
                        <m:r>
                          <a:rPr lang="en-US" altLang="zh-CN" sz="2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en-US" altLang="zh-CN" sz="2400" i="1">
                    <a:latin typeface="Cambria Math" panose="02040503050406030204" pitchFamily="18" charset="0"/>
                    <a:cs typeface="Cambria Math" panose="02040503050406030204" pitchFamily="18" charset="0"/>
                  </a:rPr>
                  <a:t>	</a:t>
                </a:r>
                <a:endParaRPr lang="en-US" altLang="zh-CN" sz="2400" i="1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lvl="2" algn="l">
                  <a:spcBef>
                    <a:spcPts val="1000"/>
                  </a:spcBef>
                  <a:buClrTx/>
                  <a:buSzTx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400"/>
                        </m:ctrlPr>
                      </m:sSubSupPr>
                      <m:e>
                        <m:r>
                          <a:rPr lang="en-US" altLang="zh-CN" sz="240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sz="240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altLang="zh-CN" sz="240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en-US" altLang="zh-CN" sz="2400">
                        <a:latin typeface="Cambria Math" panose="02040503050406030204" pitchFamily="18" charset="0"/>
                      </a:rPr>
                      <m:t> :</m:t>
                    </m:r>
                  </m:oMath>
                </a14:m>
                <a:r>
                  <a:rPr lang="en-US" altLang="zh-CN" sz="240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400">
                        <a:latin typeface="Cambria Math" panose="02040503050406030204" pitchFamily="18" charset="0"/>
                      </a:rPr>
                      <m:t>learning</m:t>
                    </m:r>
                    <m:r>
                      <a:rPr lang="en-US" altLang="zh-CN" sz="2400">
                        <a:latin typeface="Cambria Math" panose="02040503050406030204" pitchFamily="18" charset="0"/>
                      </a:rPr>
                      <m:t> </m:t>
                    </m:r>
                    <m:r>
                      <m:rPr>
                        <m:sty m:val="p"/>
                      </m:rPr>
                      <a:rPr lang="en-US" altLang="zh-CN" sz="2400">
                        <a:latin typeface="Cambria Math" panose="02040503050406030204" pitchFamily="18" charset="0"/>
                      </a:rPr>
                      <m:t>signal</m:t>
                    </m:r>
                    <m:r>
                      <a:rPr lang="en-US" altLang="zh-CN" sz="2400">
                        <a:latin typeface="Cambria Math" panose="02040503050406030204" pitchFamily="18" charset="0"/>
                      </a:rPr>
                      <m:t> (</m:t>
                    </m:r>
                    <m:r>
                      <m:rPr>
                        <m:sty m:val="p"/>
                      </m:rPr>
                      <a:rPr lang="en-US" altLang="zh-CN" sz="2400">
                        <a:latin typeface="Cambria Math" panose="02040503050406030204" pitchFamily="18" charset="0"/>
                      </a:rPr>
                      <m:t>error</m:t>
                    </m:r>
                    <m:r>
                      <a:rPr lang="en-US" altLang="zh-CN" sz="240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altLang="zh-CN" sz="2400">
                        <a:latin typeface="Cambria Math" panose="02040503050406030204" pitchFamily="18" charset="0"/>
                      </a:rPr>
                      <m:t>reward</m:t>
                    </m:r>
                    <m:r>
                      <a:rPr lang="en-US" altLang="zh-CN" sz="2400">
                        <a:latin typeface="Cambria Math" panose="02040503050406030204" pitchFamily="18" charset="0"/>
                      </a:rPr>
                      <m:t>);</m:t>
                    </m:r>
                  </m:oMath>
                </a14:m>
                <a:r>
                  <a:rPr lang="en-US" altLang="zh-CN" sz="2400" i="1">
                    <a:latin typeface="Cambria Math" panose="02040503050406030204" pitchFamily="18" charset="0"/>
                    <a:cs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𝑗𝑖</m:t>
                        </m:r>
                      </m:sub>
                      <m:sup>
                        <m:r>
                          <a:rPr lang="en-US" altLang="zh-CN" sz="2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en-US" altLang="zh-CN" sz="2400"/>
                  <a:t>: </a:t>
                </a:r>
                <a:r>
                  <a:rPr lang="en-US" altLang="zh-CN" sz="2400"/>
                  <a:t>eligibility trace (local history)</a:t>
                </a:r>
                <a:endParaRPr lang="en-US" altLang="zh-CN" sz="2400"/>
              </a:p>
              <a:p>
                <a:pPr lvl="2" algn="l">
                  <a:spcBef>
                    <a:spcPts val="1000"/>
                  </a:spcBef>
                  <a:buClrTx/>
                  <a:buSzTx/>
                </a:pPr>
                <a:endParaRPr lang="en-US" altLang="zh-CN" sz="24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435" r="2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Represent Work—RTRL </a:t>
            </a:r>
            <a:br>
              <a:rPr lang="en-US" dirty="0"/>
            </a:br>
            <a:r>
              <a:rPr lang="en-US" altLang="zh-CN" dirty="0"/>
              <a:t>Real-Time Recurrent Learning</a:t>
            </a:r>
            <a:endParaRPr lang="en-US" altLang="zh-CN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The First Online Gradient Algorithm:</a:t>
                </a:r>
                <a:endParaRPr lang="en-US" altLang="zh-CN" dirty="0"/>
              </a:p>
              <a:p>
                <a:pPr lvl="2"/>
                <a:r>
                  <a:rPr lang="en-US" altLang="zh-CN" dirty="0"/>
                  <a:t>Computes exact gradients without unrolling time.</a:t>
                </a:r>
                <a:endParaRPr lang="en-US" altLang="zh-CN" dirty="0"/>
              </a:p>
              <a:p>
                <a:pPr lvl="2"/>
                <a:r>
                  <a:rPr lang="en-US" altLang="zh-CN" dirty="0"/>
                  <a:t>Maintains a sensitivity matrix: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(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)=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𝜕</m:t>
                    </m:r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(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)/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𝜕</m:t>
                    </m:r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endParaRPr lang="en-US" altLang="zh-CN" dirty="0"/>
              </a:p>
              <a:p>
                <a:pPr lvl="2"/>
                <a:r>
                  <a:rPr lang="en-US" altLang="zh-CN" dirty="0"/>
                  <a:t>Gradients flow </a:t>
                </a:r>
                <a:r>
                  <a:rPr lang="en-US" altLang="zh-CN" i="1" dirty="0"/>
                  <a:t>forward</a:t>
                </a:r>
                <a:r>
                  <a:rPr lang="en-US" altLang="zh-CN" dirty="0"/>
                  <a:t>, not backward.</a:t>
                </a:r>
                <a:endParaRPr lang="en-US" altLang="zh-CN" dirty="0"/>
              </a:p>
              <a:p>
                <a:pPr marL="228600" lvl="1" algn="l">
                  <a:spcBef>
                    <a:spcPts val="1000"/>
                  </a:spcBef>
                  <a:buClrTx/>
                  <a:buSzTx/>
                </a:pPr>
                <a:r>
                  <a:rPr lang="en-US" altLang="zh-CN" sz="2800" dirty="0"/>
                  <a:t>The Core Idea:</a:t>
                </a:r>
                <a:endParaRPr lang="en-US" altLang="zh-CN" sz="2800" dirty="0"/>
              </a:p>
              <a:p>
                <a:pPr lvl="2" algn="l">
                  <a:spcBef>
                    <a:spcPts val="1000"/>
                  </a:spcBef>
                  <a:buClrTx/>
                  <a:buSzTx/>
                </a:pPr>
                <a:r>
                  <a:rPr lang="en-US" altLang="zh-CN" dirty="0"/>
                  <a:t>The effect of a weight on future outputs is propagated recursively.</a:t>
                </a:r>
                <a:endParaRPr lang="en-US" altLang="zh-CN" dirty="0"/>
              </a:p>
              <a:p>
                <a:pPr lvl="2" algn="l">
                  <a:spcBef>
                    <a:spcPts val="1000"/>
                  </a:spcBef>
                  <a:buClrTx/>
                  <a:buSzTx/>
                </a:pPr>
                <a:r>
                  <a:rPr lang="en-US" altLang="zh-CN" dirty="0"/>
                  <a:t>Weight change = error × accumulated sensitivity.</a:t>
                </a:r>
                <a:endParaRPr lang="en-US" altLang="zh-CN" dirty="0"/>
              </a:p>
              <a:p>
                <a:pPr marL="228600" lvl="1" algn="l">
                  <a:spcBef>
                    <a:spcPts val="1000"/>
                  </a:spcBef>
                  <a:buClrTx/>
                  <a:buSzTx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(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+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1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'(</m:t>
                    </m:r>
                    <m:sSub>
                      <m:sSubPr>
                        <m:ctrlP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(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))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𝑙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altLang="zh-CN" sz="2800" i="1" dirty="0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i="1" dirty="0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CN" sz="2800" i="1" dirty="0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𝑘𝑙</m:t>
                                </m:r>
                              </m:sub>
                            </m:sSub>
                          </m:e>
                        </m:nary>
                        <m:sSubSup>
                          <m:sSubSupPr>
                            <m:ctrlP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  <m:r>
                          <a:rPr lang="en-US" altLang="zh-CN" sz="2800" i="1" dirty="0"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sz="2800" i="1" dirty="0"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)+</m:t>
                        </m:r>
                        <m:sSub>
                          <m:sSubPr>
                            <m:ctrlP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ea typeface="MS Mincho" charset="0"/>
                                <a:cs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𝑖𝑘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zh-CN" sz="2800" i="1" dirty="0"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sz="2800" i="1" dirty="0"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altLang="zh-CN" sz="2800" dirty="0"/>
              </a:p>
              <a:p>
                <a:pPr marL="228600" lvl="1" algn="l">
                  <a:spcBef>
                    <a:spcPts val="1000"/>
                  </a:spcBef>
                  <a:buClrTx/>
                  <a:buSzTx/>
                </a:pPr>
                <a:r>
                  <a:rPr lang="en-US" altLang="zh-CN" sz="2800" dirty="0"/>
                  <a:t>The Price: Memory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800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2800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Represent Work—e-Prop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Bridging Neuroscience and Machine Learning:</a:t>
            </a:r>
            <a:endParaRPr lang="en-US" altLang="zh-CN" dirty="0"/>
          </a:p>
          <a:p>
            <a:pPr lvl="2"/>
            <a:r>
              <a:rPr lang="en-US" altLang="zh-CN" dirty="0"/>
              <a:t>The brain doesn’t use BPTT, yet learns long-term dependencies.</a:t>
            </a:r>
            <a:endParaRPr lang="en-US" altLang="zh-CN" dirty="0"/>
          </a:p>
          <a:p>
            <a:pPr lvl="2"/>
            <a:r>
              <a:rPr lang="en-US" altLang="zh-CN" dirty="0"/>
              <a:t>e-prop’s insight: let error signals meet historical traces in the present.</a:t>
            </a:r>
            <a:endParaRPr lang="en-US" altLang="zh-CN" dirty="0"/>
          </a:p>
          <a:p>
            <a:pPr marL="228600" lvl="2" algn="l">
              <a:spcBef>
                <a:spcPts val="1000"/>
              </a:spcBef>
              <a:buClrTx/>
              <a:buSzTx/>
            </a:pPr>
            <a:r>
              <a:rPr lang="en-US" altLang="zh-CN" sz="2800" dirty="0"/>
              <a:t>How It Works:</a:t>
            </a:r>
            <a:endParaRPr lang="en-US" altLang="zh-CN" sz="2800" dirty="0"/>
          </a:p>
          <a:p>
            <a:pPr lvl="2" algn="l">
              <a:spcBef>
                <a:spcPts val="500"/>
              </a:spcBef>
              <a:buClrTx/>
              <a:buSzTx/>
            </a:pPr>
            <a:r>
              <a:rPr lang="en-US" altLang="zh-CN" sz="2000" dirty="0"/>
              <a:t>Eligibility traces carry the past forward.</a:t>
            </a:r>
            <a:endParaRPr lang="en-US" altLang="zh-CN" sz="2000" dirty="0"/>
          </a:p>
          <a:p>
            <a:pPr lvl="2" algn="l">
              <a:spcBef>
                <a:spcPts val="500"/>
              </a:spcBef>
              <a:buClrTx/>
              <a:buSzTx/>
            </a:pPr>
            <a:r>
              <a:rPr lang="en-US" altLang="zh-CN" sz="2000" dirty="0"/>
              <a:t>Learning signals (errors) arrive from the top.</a:t>
            </a:r>
            <a:endParaRPr lang="en-US" altLang="zh-CN" sz="2000" dirty="0"/>
          </a:p>
          <a:p>
            <a:pPr lvl="2" algn="l">
              <a:spcBef>
                <a:spcPts val="500"/>
              </a:spcBef>
              <a:buClrTx/>
              <a:buSzTx/>
            </a:pPr>
            <a:r>
              <a:rPr lang="en-US" altLang="zh-CN" sz="2000" dirty="0"/>
              <a:t>Weight update = learning signal × eligibility trace.</a:t>
            </a:r>
            <a:endParaRPr lang="en-US" altLang="zh-CN" sz="20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Represent Work—OTTT</a:t>
            </a:r>
            <a:r>
              <a:rPr lang="en-US" sz="1800" dirty="0"/>
              <a:t>(</a:t>
            </a:r>
            <a:r>
              <a:rPr lang="en-US" altLang="zh-CN" sz="1800" dirty="0"/>
              <a:t>Online Training Through Time)</a:t>
            </a:r>
            <a:endParaRPr lang="en-US" altLang="zh-CN" sz="1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3675" y="1127760"/>
                <a:ext cx="11805285" cy="51720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altLang="zh-CN" dirty="0"/>
                  <a:t>The Problem: Previous online algorithms still need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 memory</a:t>
                </a:r>
                <a:endParaRPr lang="en-US" altLang="zh-CN" dirty="0"/>
              </a:p>
              <a:p>
                <a:r>
                  <a:rPr lang="en-US" altLang="zh-CN" dirty="0"/>
                  <a:t>OTTT’s Answer: Track only presynaptic activity —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 memory.\</a:t>
                </a:r>
                <a:endParaRPr lang="en-US" altLang="zh-CN" dirty="0"/>
              </a:p>
              <a:p>
                <a:r>
                  <a:rPr lang="en-US" altLang="zh-CN" dirty="0"/>
                  <a:t>BPTT’s temporal dependency has two paths:</a:t>
                </a:r>
                <a:endParaRPr lang="en-US" altLang="zh-CN" dirty="0"/>
              </a:p>
              <a:p>
                <a:pPr lvl="1"/>
                <a:r>
                  <a:rPr lang="en-US" altLang="zh-CN" sz="2000" dirty="0"/>
                  <a:t>Direct path: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000" dirty="0"/>
                        </m:ctrlPr>
                      </m:fPr>
                      <m:num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en-US" altLang="zh-CN" sz="2000" dirty="0"/>
                            </m:ctrlPr>
                          </m:sSupPr>
                          <m:e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p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en-US" altLang="zh-CN" sz="2000" dirty="0"/>
                            </m:ctrlPr>
                          </m:sSupPr>
                          <m:e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p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en-US" altLang="zh-CN" sz="200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000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altLang="zh-CN" sz="2000" dirty="0">
                        <a:latin typeface="Cambria Math" panose="02040503050406030204" pitchFamily="18" charset="0"/>
                      </a:rPr>
                      <m:t>𝐈</m:t>
                    </m:r>
                  </m:oMath>
                </a14:m>
                <a:r>
                  <a:rPr lang="en-US" altLang="zh-CN" sz="2000" dirty="0"/>
                  <a:t> (leakage)</a:t>
                </a:r>
                <a:endParaRPr lang="en-US" altLang="zh-CN" sz="2000" dirty="0"/>
              </a:p>
              <a:p>
                <a:pPr lvl="1"/>
                <a:r>
                  <a:rPr lang="en-US" altLang="zh-CN" sz="2000" dirty="0"/>
                  <a:t>Spike path: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000" dirty="0"/>
                        </m:ctrlPr>
                      </m:fPr>
                      <m:num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en-US" altLang="zh-CN" sz="2000" dirty="0"/>
                            </m:ctrlPr>
                          </m:sSupPr>
                          <m:e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p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en-US" altLang="zh-CN" sz="2000" dirty="0"/>
                            </m:ctrlPr>
                          </m:sSupPr>
                          <m:e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p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en-US" altLang="zh-CN" sz="2000" dirty="0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altLang="zh-CN" sz="2000" dirty="0"/>
                        </m:ctrlPr>
                      </m:fPr>
                      <m:num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en-US" altLang="zh-CN" sz="2000" dirty="0"/>
                            </m:ctrlPr>
                          </m:sSupPr>
                          <m:e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p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en-US" altLang="zh-CN" sz="2000" dirty="0"/>
                            </m:ctrlPr>
                          </m:sSupPr>
                          <m:e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p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sz="2000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dirty="0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</m:oMath>
                </a14:m>
                <a:r>
                  <a:rPr lang="en-US" altLang="zh-CN" sz="2000" dirty="0"/>
                  <a:t>(reset via spikes)</a:t>
                </a:r>
                <a:endParaRPr lang="en-US" altLang="zh-CN" sz="2000" dirty="0"/>
              </a:p>
              <a:p>
                <a:pPr lvl="1"/>
                <a:r>
                  <a:rPr lang="en-US" altLang="zh-CN" sz="2000" dirty="0"/>
                  <a:t>OTTT drops the spike path because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</m:ctrlPr>
                      </m:fPr>
                      <m:num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𝜕</m:t>
                        </m:r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𝐬</m:t>
                        </m:r>
                      </m:num>
                      <m:den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𝜕</m:t>
                        </m:r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𝐮</m:t>
                        </m:r>
                      </m:den>
                    </m:f>
                  </m:oMath>
                </a14:m>
                <a:r>
                  <a:rPr lang="en-US" altLang="zh-CN" sz="2000" dirty="0"/>
                  <a:t> (derivative of Heaviside) is 0 almost everywhere.</a:t>
                </a:r>
                <a:endParaRPr lang="en-US" altLang="zh-CN" sz="2000" dirty="0"/>
              </a:p>
              <a:p>
                <a:pPr lvl="1"/>
                <a:r>
                  <a:rPr lang="en-US" altLang="zh-CN" sz="2000" dirty="0"/>
                  <a:t>Result: </a:t>
                </a:r>
                <a14:m>
                  <m:oMath xmlns:m="http://schemas.openxmlformats.org/officeDocument/2006/math">
                    <m:nary>
                      <m:naryPr>
                        <m:chr m:val="∏"/>
                        <m:limLoc m:val="subSup"/>
                        <m:subHide m:val="on"/>
                        <m:supHide m:val="on"/>
                        <m:ctrlP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(</m:t>
                        </m:r>
                      </m:e>
                    </m:nary>
                    <m:r>
                      <a:rPr lang="en-US" altLang="zh-CN" sz="20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𝜆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+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0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)=</m:t>
                    </m:r>
                    <m:sSup>
                      <m:sSupPr>
                        <m:ctrlP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</m:ctrlPr>
                      </m:sSupPr>
                      <m:e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𝜆</m:t>
                        </m:r>
                      </m:e>
                      <m:sup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𝑡</m:t>
                        </m:r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−</m:t>
                        </m:r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𝜏</m:t>
                        </m:r>
                      </m:sup>
                    </m:sSup>
                  </m:oMath>
                </a14:m>
                <a:r>
                  <a:rPr lang="en-US" altLang="zh-CN" sz="2000" dirty="0"/>
                  <a:t> — a simple exponential decay</a:t>
                </a:r>
                <a:endParaRPr lang="en-US" altLang="zh-CN" sz="2000" dirty="0"/>
              </a:p>
              <a:p>
                <a:pPr marL="228600" lvl="1" algn="l">
                  <a:spcBef>
                    <a:spcPts val="1000"/>
                  </a:spcBef>
                  <a:buClrTx/>
                  <a:buSzTx/>
                </a:pPr>
                <a:r>
                  <a:rPr lang="en-US" altLang="zh-CN" sz="2800" dirty="0"/>
                  <a:t>Core Update:</a:t>
                </a:r>
                <a:endParaRPr lang="en-US" altLang="zh-CN" sz="2800" dirty="0"/>
              </a:p>
              <a:p>
                <a:pPr marL="228600" lvl="1" algn="l">
                  <a:spcBef>
                    <a:spcPts val="1000"/>
                  </a:spcBef>
                  <a:buClrTx/>
                  <a:buSzTx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trlP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  <m:sup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[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+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1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]=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trlP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  <m:sup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[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]+</m:t>
                    </m:r>
                    <m:sSup>
                      <m:sSupPr>
                        <m:ctrlP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𝐬</m:t>
                        </m:r>
                      </m:e>
                      <m:sup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[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+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1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], </m:t>
                    </m:r>
                    <m:sSub>
                      <m:sSubPr>
                        <m:ctrlP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800" i="1" dirty="0"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𝛻</m:t>
                        </m:r>
                      </m:e>
                      <m:sub>
                        <m:sSup>
                          <m:sSupPr>
                            <m:ctrlP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𝐖</m:t>
                            </m:r>
                          </m:e>
                          <m:sup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𝑙</m:t>
                            </m:r>
                          </m:sup>
                        </m:sSup>
                      </m:sub>
                    </m:sSub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𝐿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[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𝐠</m:t>
                        </m:r>
                      </m:e>
                      <m:sub>
                        <m:sSup>
                          <m:sSupPr>
                            <m:ctrlP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𝐮</m:t>
                            </m:r>
                          </m:e>
                          <m:sup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ea typeface="MS Mincho" charset="0"/>
                                <a:cs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ea typeface="MS Mincho" charset="0"/>
                                <a:cs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sub>
                    </m:sSub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[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]⋅(</m:t>
                    </m:r>
                    <m:sSup>
                      <m:sSupPr>
                        <m:ctrlP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trlP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  <m:sup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[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800" i="1" dirty="0"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zh-CN" sz="2800" i="1" dirty="0"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en-US" altLang="zh-CN" sz="2800" i="1" dirty="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675" y="1127760"/>
                <a:ext cx="11805285" cy="5172075"/>
              </a:xfrm>
              <a:blipFill rotWithShape="1">
                <a:blip r:embed="rId1"/>
                <a:stretch>
                  <a:fillRect t="-1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ClrTx/>
              <a:buSzTx/>
              <a:buFontTx/>
            </a:pPr>
            <a:r>
              <a:rPr lang="en-US" dirty="0"/>
              <a:t>Represent Work—</a:t>
            </a:r>
            <a:r>
              <a:rPr lang="en-US" altLang="zh-CN" dirty="0"/>
              <a:t>NDOT</a:t>
            </a:r>
            <a:r>
              <a:rPr lang="en-US" altLang="zh-CN" sz="2000" dirty="0"/>
              <a:t>(Neuronal Dynamics-based Online Training)</a:t>
            </a:r>
            <a:endParaRPr lang="en-US" altLang="zh-CN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zh-CN" dirty="0"/>
                  <a:t>OTTT's Assumption Questioned:</a:t>
                </a:r>
                <a:endParaRPr lang="en-US" altLang="zh-CN" dirty="0"/>
              </a:p>
              <a:p>
                <a:pPr lvl="1"/>
                <a:r>
                  <a:rPr lang="en-US" altLang="zh-CN" dirty="0"/>
                  <a:t>OTTT uses fixed decay </a:t>
                </a: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zh-CN" dirty="0"/>
                  <a:t>.</a:t>
                </a:r>
                <a:endParaRPr lang="en-US" altLang="zh-CN" dirty="0"/>
              </a:p>
              <a:p>
                <a:pPr lvl="1"/>
                <a:r>
                  <a:rPr lang="en-US" altLang="zh-CN" dirty="0"/>
                  <a:t>NDOT: decay should depend on the neuron's actual state</a:t>
                </a:r>
                <a:endParaRPr lang="en-US" altLang="zh-CN" dirty="0"/>
              </a:p>
              <a:p>
                <a:pPr marL="228600" lvl="1" algn="l">
                  <a:spcBef>
                    <a:spcPts val="1000"/>
                  </a:spcBef>
                  <a:buClrTx/>
                  <a:buSzTx/>
                </a:pPr>
                <a:r>
                  <a:rPr lang="en-US" altLang="zh-CN" sz="2800" dirty="0"/>
                  <a:t>The Continuous-Time Insight:</a:t>
                </a:r>
                <a:endParaRPr lang="en-US" altLang="zh-CN" sz="2800" dirty="0"/>
              </a:p>
              <a:p>
                <a:pPr lvl="1" algn="l">
                  <a:spcBef>
                    <a:spcPts val="500"/>
                  </a:spcBef>
                  <a:buClrTx/>
                  <a:buSzTx/>
                </a:pPr>
                <a:r>
                  <a:rPr lang="en-US" altLang="zh-CN" sz="2400" dirty="0"/>
                  <a:t>From LIF dynamics: </a:t>
                </a:r>
                <a14:m>
                  <m:oMath xmlns:m="http://schemas.openxmlformats.org/officeDocument/2006/math"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𝑒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(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) = 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𝑢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'(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+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1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)/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𝑢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'(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2400" i="1" dirty="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lvl="1" algn="l">
                  <a:spcBef>
                    <a:spcPts val="500"/>
                  </a:spcBef>
                  <a:buClrTx/>
                  <a:buSzTx/>
                </a:pPr>
                <a:r>
                  <a:rPr lang="en-US" altLang="zh-CN" sz="2400" dirty="0"/>
                  <a:t>Discrete version: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</m:ctrlPr>
                      </m:sSup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𝑒</m:t>
                        </m:r>
                      </m:e>
                      <m:sup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𝑙</m:t>
                        </m:r>
                      </m:sup>
                    </m:sSup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[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𝑡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]=(</m:t>
                    </m:r>
                    <m:sSup>
                      <m:sSupPr>
                        <m:ctrlP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</m:ctrlPr>
                      </m:sSup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𝑢</m:t>
                        </m:r>
                      </m:e>
                      <m:sup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𝑙</m:t>
                        </m:r>
                      </m:sup>
                    </m:sSup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[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𝑡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]−</m:t>
                    </m:r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𝑉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𝑡ℎ</m:t>
                        </m:r>
                      </m:sub>
                    </m:sSub>
                    <m:sSup>
                      <m:sSupPr>
                        <m:ctrlP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</m:ctrlPr>
                      </m:sSup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𝑠</m:t>
                        </m:r>
                      </m:e>
                      <m:sup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𝑙</m:t>
                        </m:r>
                      </m:sup>
                    </m:sSup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[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𝑡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])/(</m:t>
                    </m:r>
                    <m:sSup>
                      <m:sSupPr>
                        <m:ctrlP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</m:ctrlPr>
                      </m:sSup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𝑢</m:t>
                        </m:r>
                      </m:e>
                      <m:sup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𝑙</m:t>
                        </m:r>
                      </m:sup>
                    </m:sSup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[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𝑡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−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1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]−</m:t>
                    </m:r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𝑉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𝑡ℎ</m:t>
                        </m:r>
                      </m:sub>
                    </m:sSub>
                    <m:sSup>
                      <m:sSupPr>
                        <m:ctrlP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</m:ctrlPr>
                      </m:sSup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𝑠</m:t>
                        </m:r>
                      </m:e>
                      <m:sup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𝑙</m:t>
                        </m:r>
                      </m:sup>
                    </m:sSup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[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𝑡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−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1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])</m:t>
                    </m:r>
                  </m:oMath>
                </a14:m>
                <a:r>
                  <a:rPr lang="en-US" altLang="zh-CN" sz="2400" dirty="0"/>
                  <a:t>.</a:t>
                </a:r>
                <a:endParaRPr lang="en-US" altLang="zh-CN" sz="2400" dirty="0"/>
              </a:p>
              <a:p>
                <a:pPr marL="228600" lvl="1" algn="l">
                  <a:spcBef>
                    <a:spcPts val="1000"/>
                  </a:spcBef>
                  <a:buClrTx/>
                  <a:buSzTx/>
                </a:pPr>
                <a:r>
                  <a:rPr lang="en-US" altLang="zh-CN" sz="2800" dirty="0"/>
                  <a:t>Core Update:</a:t>
                </a:r>
                <a:endParaRPr lang="en-US" altLang="zh-CN" sz="2800" dirty="0"/>
              </a:p>
              <a:p>
                <a:pPr marL="0" lvl="1" algn="l">
                  <a:spcBef>
                    <a:spcPts val="1000"/>
                  </a:spcBef>
                  <a:buClrTx/>
                  <a:buSzTx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</m:ctrlPr>
                      </m:sSupPr>
                      <m:e>
                        <m:acc>
                          <m:accPr>
                            <m:ctrlP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  <a:sym typeface="+mn-ea"/>
                              </a:rPr>
                            </m:ctrlPr>
                          </m:accPr>
                          <m:e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  <a:sym typeface="+mn-ea"/>
                              </a:rPr>
                              <m:t>𝑎</m:t>
                            </m:r>
                          </m:e>
                        </m:acc>
                      </m:e>
                      <m:sup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𝑙</m:t>
                        </m:r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−</m:t>
                        </m:r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1</m:t>
                        </m:r>
                      </m:sup>
                    </m:sSup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[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𝑡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]=</m:t>
                    </m:r>
                    <m:sSup>
                      <m:sSupPr>
                        <m:ctrlP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</m:ctrlPr>
                      </m:sSupPr>
                      <m:e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𝑒</m:t>
                        </m:r>
                      </m:e>
                      <m:sup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𝑙</m:t>
                        </m:r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−</m:t>
                        </m:r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1</m:t>
                        </m:r>
                      </m:sup>
                    </m:sSup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[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𝑡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−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1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]⊙</m:t>
                    </m:r>
                    <m:sSup>
                      <m:sSupPr>
                        <m:ctrlP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</m:ctrlPr>
                      </m:sSupPr>
                      <m:e>
                        <m:acc>
                          <m:accPr>
                            <m:ctrlP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  <a:sym typeface="+mn-ea"/>
                              </a:rPr>
                            </m:ctrlPr>
                          </m:accPr>
                          <m:e>
                            <m:r>
                              <a:rPr lang="en-US" altLang="zh-CN" sz="2800" i="1" dirty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  <a:sym typeface="+mn-ea"/>
                              </a:rPr>
                              <m:t>𝑎</m:t>
                            </m:r>
                          </m:e>
                        </m:acc>
                      </m:e>
                      <m:sup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𝑙</m:t>
                        </m:r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−</m:t>
                        </m:r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1</m:t>
                        </m:r>
                      </m:sup>
                    </m:sSup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[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𝑡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−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1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]+</m:t>
                    </m:r>
                    <m:sSup>
                      <m:sSupPr>
                        <m:ctrlP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</m:ctrlPr>
                      </m:sSupPr>
                      <m:e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𝑠</m:t>
                        </m:r>
                      </m:e>
                      <m:sup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𝑙</m:t>
                        </m:r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−</m:t>
                        </m:r>
                        <m:r>
                          <a:rPr lang="en-US" altLang="zh-CN" sz="28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1</m:t>
                        </m:r>
                      </m:sup>
                    </m:sSup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[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𝑡</m:t>
                    </m:r>
                    <m:r>
                      <a:rPr lang="en-US" altLang="zh-CN" sz="2800" i="1" dirty="0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]</m:t>
                    </m:r>
                  </m:oMath>
                </a14:m>
                <a:endParaRPr lang="en-US" altLang="zh-CN" sz="2800" dirty="0"/>
              </a:p>
              <a:p>
                <a:pPr lvl="1" algn="l">
                  <a:spcBef>
                    <a:spcPts val="500"/>
                  </a:spcBef>
                  <a:buClrTx/>
                  <a:buSzTx/>
                </a:pPr>
                <a:r>
                  <a:rPr lang="en-US" altLang="zh-CN" sz="2400" dirty="0"/>
                  <a:t>Dynamic </a:t>
                </a:r>
                <a14:m>
                  <m:oMath xmlns:m="http://schemas.openxmlformats.org/officeDocument/2006/math"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altLang="zh-CN" sz="2400" dirty="0"/>
                  <a:t> replaces fixed </a:t>
                </a:r>
                <a14:m>
                  <m:oMath xmlns:m="http://schemas.openxmlformats.org/officeDocument/2006/math"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zh-CN" sz="2400" dirty="0"/>
                  <a:t>. Same </a:t>
                </a:r>
                <a14:m>
                  <m:oMath xmlns:m="http://schemas.openxmlformats.org/officeDocument/2006/math"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𝒪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(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𝑛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400" dirty="0"/>
                  <a:t> memory, higher accuracy.</a:t>
                </a:r>
                <a:endParaRPr lang="en-US" altLang="zh-CN" sz="2400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Represent Work</a:t>
            </a:r>
            <a:r>
              <a:rPr lang="en-US"/>
              <a:t>—</a:t>
            </a:r>
            <a:r>
              <a:rPr lang="en-US" altLang="zh-CN"/>
              <a:t>S-TLLR: </a:t>
            </a:r>
            <a:br>
              <a:rPr lang="en-US" altLang="zh-CN"/>
            </a:br>
            <a:r>
              <a:rPr lang="en-US" altLang="zh-CN" sz="2000"/>
              <a:t>STDP-inspired Temporal Local Learning Rule for Spiking Neural Networks</a:t>
            </a:r>
            <a:endParaRPr lang="en-US" altLang="zh-CN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Beyond Causality:</a:t>
                </a:r>
                <a:endParaRPr lang="en-US" altLang="zh-CN" dirty="0"/>
              </a:p>
              <a:p>
                <a:pPr lvl="1"/>
                <a:r>
                  <a:rPr lang="en-US" altLang="zh-CN" sz="2000" dirty="0"/>
                  <a:t>BPTT only uses causal relations (pre → post).</a:t>
                </a:r>
                <a:endParaRPr lang="en-US" altLang="zh-CN" sz="2000" dirty="0"/>
              </a:p>
              <a:p>
                <a:pPr lvl="1"/>
                <a:r>
                  <a:rPr lang="en-US" altLang="zh-CN" sz="2000" dirty="0"/>
                  <a:t>STDP can also reward synchrony (post → pre).</a:t>
                </a:r>
                <a:endParaRPr lang="en-US" altLang="zh-CN" sz="2000" dirty="0"/>
              </a:p>
              <a:p>
                <a:pPr lvl="1"/>
                <a:r>
                  <a:rPr lang="en-US" altLang="zh-CN" sz="2000" dirty="0"/>
                  <a:t>S-TLLR: learn from both.</a:t>
                </a:r>
                <a:endParaRPr lang="en-US" altLang="zh-CN" sz="2000" dirty="0"/>
              </a:p>
              <a:p>
                <a:pPr marL="228600" lvl="1" algn="l">
                  <a:spcBef>
                    <a:spcPts val="1000"/>
                  </a:spcBef>
                  <a:buClrTx/>
                  <a:buSzTx/>
                </a:pPr>
                <a:r>
                  <a:rPr lang="en-US" altLang="zh-CN" sz="2800" dirty="0"/>
                  <a:t>The Non-Causal Term:</a:t>
                </a:r>
                <a:endParaRPr lang="en-US" altLang="zh-CN" sz="2800" dirty="0"/>
              </a:p>
              <a:p>
                <a:pPr lvl="1" algn="l">
                  <a:spcBef>
                    <a:spcPts val="500"/>
                  </a:spcBef>
                  <a:buClrTx/>
                  <a:buSzTx/>
                </a:pPr>
                <a:r>
                  <a:rPr lang="en-US" altLang="zh-CN" sz="2000" dirty="0"/>
                  <a:t>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𝑝𝑜𝑠𝑡</m:t>
                        </m:r>
                      </m:sub>
                    </m:sSub>
                  </m:oMath>
                </a14:m>
                <a:r>
                  <a:rPr lang="en-US" altLang="zh-CN" sz="2000" dirty="0"/>
                  <a:t>controls non-causal reward.</a:t>
                </a:r>
                <a:endParaRPr lang="en-US" altLang="zh-CN" sz="2000" dirty="0"/>
              </a:p>
              <a:p>
                <a:pPr lvl="1" algn="l">
                  <a:spcBef>
                    <a:spcPts val="500"/>
                  </a:spcBef>
                  <a:buClrTx/>
                  <a:buSzTx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𝑝𝑜𝑠𝑡</m:t>
                        </m:r>
                      </m:sub>
                    </m:sSub>
                    <m:r>
                      <a:rPr lang="en-US" altLang="zh-CN" sz="20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&gt;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CN" sz="2000" dirty="0"/>
                  <a:t>: reward synchrony;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𝑝𝑜𝑠𝑡</m:t>
                        </m:r>
                      </m:sub>
                    </m:sSub>
                    <m:r>
                      <a:rPr lang="en-US" altLang="zh-CN" sz="20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&lt;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CN" sz="2000" dirty="0"/>
                  <a:t>: punish it.</a:t>
                </a:r>
                <a:endParaRPr lang="en-US" altLang="zh-CN" sz="2000" dirty="0"/>
              </a:p>
              <a:p>
                <a:pPr lvl="1" algn="l">
                  <a:spcBef>
                    <a:spcPts val="500"/>
                  </a:spcBef>
                  <a:buClrTx/>
                  <a:buSzTx/>
                </a:pPr>
                <a:r>
                  <a:rPr lang="en-US" altLang="zh-CN" sz="2000" dirty="0"/>
                  <a:t>Vision prefers causality </a:t>
                </a:r>
                <a14:m>
                  <m:oMath xmlns:m="http://schemas.openxmlformats.org/officeDocument/2006/math">
                    <m:r>
                      <a:rPr lang="en-US" altLang="zh-CN" sz="2000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(−</m:t>
                    </m:r>
                    <m:r>
                      <a:rPr lang="en-US" altLang="zh-CN" sz="2000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1</m:t>
                    </m:r>
                    <m:r>
                      <a:rPr lang="en-US" altLang="zh-CN" sz="2000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000" dirty="0"/>
                  <a:t>; audio prefers synchrony </a:t>
                </a:r>
                <a14:m>
                  <m:oMath xmlns:m="http://schemas.openxmlformats.org/officeDocument/2006/math">
                    <m:r>
                      <a:rPr lang="en-US" altLang="zh-CN" sz="2000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(+</m:t>
                    </m:r>
                    <m:r>
                      <a:rPr lang="en-US" altLang="zh-CN" sz="2000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1</m:t>
                    </m:r>
                    <m:r>
                      <a:rPr lang="en-US" altLang="zh-CN" sz="2000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000" dirty="0"/>
                  <a:t>.</a:t>
                </a:r>
                <a:endParaRPr lang="en-US" altLang="zh-CN" sz="2000" dirty="0"/>
              </a:p>
              <a:p>
                <a:pPr marL="228600" lvl="1" algn="l">
                  <a:spcBef>
                    <a:spcPts val="1000"/>
                  </a:spcBef>
                  <a:buClrTx/>
                  <a:buSzTx/>
                </a:pPr>
                <a:r>
                  <a:rPr lang="en-US" altLang="zh-CN" sz="2800" dirty="0"/>
                  <a:t>Key Formula:</a:t>
                </a:r>
                <a:endParaRPr lang="en-US" altLang="zh-CN" sz="2800" dirty="0"/>
              </a:p>
              <a:p>
                <a:pPr lvl="1" algn="l">
                  <a:spcBef>
                    <a:spcPts val="500"/>
                  </a:spcBef>
                  <a:buClrTx/>
                  <a:buSzTx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[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 dirty="0"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𝑟𝑒</m:t>
                        </m:r>
                      </m:sub>
                    </m:sSub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𝛹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[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])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𝑡𝑟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)[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]+</m:t>
                    </m:r>
                    <m:sSub>
                      <m:sSubPr>
                        <m:ctrlP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 dirty="0"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𝑝𝑜𝑠𝑡</m:t>
                        </m:r>
                      </m:sub>
                    </m:sSub>
                    <m:sSub>
                      <m:sSubPr>
                        <m:ctrlP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[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](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𝑡𝑟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(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𝛹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[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]))−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𝛹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CN" sz="20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[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]))</m:t>
                    </m:r>
                  </m:oMath>
                </a14:m>
                <a:endParaRPr lang="en-US" altLang="zh-CN" sz="2000" i="1" dirty="0">
                  <a:latin typeface="Cambria Math" panose="02040503050406030204" pitchFamily="18" charset="0"/>
                  <a:ea typeface="MS Mincho" charset="0"/>
                  <a:cs typeface="Cambria Math" panose="02040503050406030204" pitchFamily="18" charset="0"/>
                </a:endParaRPr>
              </a:p>
              <a:p>
                <a:pPr lvl="2" algn="l">
                  <a:spcBef>
                    <a:spcPts val="1000"/>
                  </a:spcBef>
                  <a:buClrTx/>
                  <a:buSzTx/>
                </a:pPr>
                <a:r>
                  <a:rPr lang="en-US" altLang="zh-CN" sz="2330" dirty="0"/>
                  <a:t>Memory </a:t>
                </a:r>
                <a14:m>
                  <m:oMath xmlns:m="http://schemas.openxmlformats.org/officeDocument/2006/math">
                    <m:r>
                      <a:rPr lang="en-US" altLang="zh-CN" sz="233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𝒪</m:t>
                    </m:r>
                    <m:r>
                      <a:rPr lang="en-US" altLang="zh-CN" sz="233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(</m:t>
                    </m:r>
                    <m:r>
                      <a:rPr lang="en-US" altLang="zh-CN" sz="233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𝑛</m:t>
                    </m:r>
                    <m:r>
                      <a:rPr lang="en-US" altLang="zh-CN" sz="233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330" dirty="0"/>
                  <a:t> — no extra cost for extra information.</a:t>
                </a:r>
                <a:endParaRPr lang="en-US" altLang="zh-CN" sz="2330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Represent Work</a:t>
            </a:r>
            <a:r>
              <a:rPr lang="en-US"/>
              <a:t>—</a:t>
            </a:r>
            <a:r>
              <a:rPr lang="en-US" altLang="zh-CN"/>
              <a:t>TESS:</a:t>
            </a:r>
            <a:br>
              <a:rPr lang="en-US" altLang="zh-CN"/>
            </a:br>
            <a:r>
              <a:rPr lang="en-US" altLang="zh-CN" sz="2000"/>
              <a:t>Temporally and Spatially Local Learning Rule for Spiking Neural Networks</a:t>
            </a:r>
            <a:endParaRPr lang="en-US" altLang="zh-CN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The Ultimate Goal: Full Locality:</a:t>
                </a:r>
                <a:endParaRPr lang="en-US" altLang="zh-CN" dirty="0"/>
              </a:p>
              <a:p>
                <a:pPr lvl="1"/>
                <a:r>
                  <a:rPr lang="en-US" altLang="zh-CN" dirty="0"/>
                  <a:t>Previous: temporally local, but still need layer-to-layer error propagation.</a:t>
                </a:r>
                <a:endParaRPr lang="en-US" altLang="zh-CN" dirty="0"/>
              </a:p>
              <a:p>
                <a:pPr lvl="1"/>
                <a:r>
                  <a:rPr lang="en-US" altLang="zh-CN" dirty="0"/>
                  <a:t>TESS:  </a:t>
                </a:r>
                <a:r>
                  <a:rPr lang="en-US" altLang="zh-CN" dirty="0"/>
                  <a:t>Each layer can learn from its own local signal</a:t>
                </a:r>
                <a:endParaRPr lang="en-US" altLang="zh-CN" dirty="0"/>
              </a:p>
              <a:p>
                <a:pPr marL="228600" lvl="1" algn="l">
                  <a:spcBef>
                    <a:spcPts val="1000"/>
                  </a:spcBef>
                  <a:buClrTx/>
                  <a:buSzTx/>
                </a:pPr>
                <a:r>
                  <a:rPr lang="en-US" altLang="zh-CN" sz="2800" dirty="0"/>
                  <a:t>Two Keys:</a:t>
                </a:r>
                <a:endParaRPr lang="en-US" altLang="zh-CN" sz="2800" dirty="0"/>
              </a:p>
              <a:p>
                <a:pPr lvl="1" algn="l">
                  <a:spcBef>
                    <a:spcPts val="500"/>
                  </a:spcBef>
                  <a:buClrTx/>
                  <a:buSzTx/>
                </a:pPr>
                <a:r>
                  <a:rPr lang="en-US" altLang="zh-CN" sz="2400" i="1" dirty="0"/>
                  <a:t>Time locality: </a:t>
                </a:r>
                <a:r>
                  <a:rPr lang="en-US" altLang="zh-CN" sz="2400" dirty="0"/>
                  <a:t>instantaneous traces (</a:t>
                </a:r>
                <a14:m>
                  <m:oMath xmlns:m="http://schemas.openxmlformats.org/officeDocument/2006/math"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𝛽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=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CN" sz="2400" dirty="0"/>
                  <a:t>) — memory </a:t>
                </a:r>
                <a14:m>
                  <m:oMath xmlns:m="http://schemas.openxmlformats.org/officeDocument/2006/math"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𝒪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(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𝑛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400" dirty="0"/>
                  <a:t>.</a:t>
                </a:r>
                <a:endParaRPr lang="en-US" altLang="zh-CN" sz="2400" dirty="0"/>
              </a:p>
              <a:p>
                <a:pPr lvl="1" algn="l">
                  <a:spcBef>
                    <a:spcPts val="500"/>
                  </a:spcBef>
                  <a:buClrTx/>
                  <a:buSzTx/>
                </a:pPr>
                <a:r>
                  <a:rPr lang="en-US" altLang="zh-CN" sz="2400" i="1" dirty="0"/>
                  <a:t>Space locality</a:t>
                </a:r>
                <a:r>
                  <a:rPr lang="en-US" altLang="zh-CN" sz="2400" dirty="0"/>
                  <a:t>: each layer projects outputs to label space and compares locally.</a:t>
                </a:r>
                <a:endParaRPr lang="en-US" altLang="zh-CN" sz="2400" dirty="0"/>
              </a:p>
              <a:p>
                <a:pPr lvl="1" algn="l">
                  <a:spcBef>
                    <a:spcPts val="500"/>
                  </a:spcBef>
                  <a:buClrTx/>
                  <a:buSzTx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altLang="zh-CN" sz="24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[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]=</m:t>
                    </m:r>
                    <m:sSup>
                      <m:sSupPr>
                        <m:ctrlP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𝑙</m:t>
                        </m:r>
                        <m:r>
                          <a:rPr lang="en-US" altLang="zh-CN" sz="2400" i="1" dirty="0"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altLang="zh-CN" sz="24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(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𝑓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𝑙</m:t>
                        </m:r>
                      </m:sup>
                    </m:sSup>
                    <m:sSup>
                      <m:sSupPr>
                        <m:ctrlP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𝑜</m:t>
                        </m:r>
                      </m:e>
                      <m:sup>
                        <m: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altLang="zh-CN" sz="24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[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])−</m:t>
                    </m:r>
                    <m:sSup>
                      <m:sSupPr>
                        <m:ctrlP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altLang="zh-CN" sz="2400" i="1" dirty="0"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zh-CN" sz="24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), 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𝛥</m:t>
                    </m:r>
                    <m:sSup>
                      <m:sSupPr>
                        <m:ctrlP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altLang="zh-CN" sz="24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[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]=</m:t>
                    </m:r>
                    <m:sSup>
                      <m:sSupPr>
                        <m:ctrlP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altLang="zh-CN" sz="2400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altLang="zh-CN" sz="24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[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]⊙[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𝑡𝑟𝑎𝑐𝑒𝑠</m:t>
                    </m:r>
                    <m:r>
                      <a:rPr lang="en-US" altLang="zh-CN" sz="2400" i="1" dirty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zh-CN" sz="2400" i="1" dirty="0">
                  <a:latin typeface="Cambria Math" panose="02040503050406030204" pitchFamily="18" charset="0"/>
                  <a:ea typeface="MS Mincho" charset="0"/>
                  <a:cs typeface="Cambria Math" panose="02040503050406030204" pitchFamily="18" charset="0"/>
                </a:endParaRPr>
              </a:p>
              <a:p>
                <a:pPr lvl="1" algn="l">
                  <a:spcBef>
                    <a:spcPts val="500"/>
                  </a:spcBef>
                  <a:buClrTx/>
                  <a:buSzTx/>
                </a:pPr>
                <a:r>
                  <a:rPr lang="en-US" altLang="zh-CN" sz="2400" dirty="0"/>
                  <a:t>No layer-to-layer propagation. Fully parallel.</a:t>
                </a:r>
                <a:endParaRPr lang="en-US" altLang="zh-CN" sz="2400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Discussion Questions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Exact vs. Approximate: </a:t>
            </a:r>
            <a:endParaRPr lang="en-US" altLang="zh-CN" dirty="0"/>
          </a:p>
          <a:p>
            <a:pPr lvl="1"/>
            <a:r>
              <a:rPr lang="en-US" altLang="zh-CN" dirty="0"/>
              <a:t>RTRL is exact but expensive. OTTT/TESS are approximate but efficient. When would you choose each?</a:t>
            </a:r>
            <a:endParaRPr lang="en-US" altLang="zh-CN" dirty="0"/>
          </a:p>
          <a:p>
            <a:r>
              <a:rPr lang="en-US" altLang="zh-CN" dirty="0"/>
              <a:t>Biology-Inspired vs. Performance: </a:t>
            </a:r>
            <a:endParaRPr lang="en-US" altLang="zh-CN" dirty="0"/>
          </a:p>
          <a:p>
            <a:pPr lvl="1"/>
            <a:r>
              <a:rPr lang="en-US" altLang="zh-CN" dirty="0"/>
              <a:t>e-prop and S-TLLR incorporate biological mechanisms. Do these help performance, or are they just constraints?</a:t>
            </a:r>
            <a:endParaRPr lang="en-US" altLang="zh-CN" dirty="0"/>
          </a:p>
          <a:p>
            <a:r>
              <a:rPr lang="en-US" altLang="zh-CN" dirty="0"/>
              <a:t>The Future of Local Learning: </a:t>
            </a:r>
            <a:endParaRPr lang="en-US" altLang="zh-CN" dirty="0"/>
          </a:p>
          <a:p>
            <a:pPr lvl="1"/>
            <a:r>
              <a:rPr lang="en-US" altLang="zh-CN" dirty="0"/>
              <a:t>TESS proves full locality is possible. Can it scale to ImageNet-level tasks?</a:t>
            </a:r>
            <a:endParaRPr lang="en-US" altLang="zh-C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3675" y="1090295"/>
            <a:ext cx="11805285" cy="5428615"/>
          </a:xfrm>
        </p:spPr>
        <p:txBody>
          <a:bodyPr>
            <a:normAutofit fontScale="80000"/>
          </a:bodyPr>
          <a:lstStyle/>
          <a:p>
            <a:r>
              <a:rPr lang="en-US" altLang="zh-CN" dirty="0"/>
              <a:t>Shared Foundation: All algorithms follow the same principle — a learning signal meets an eligibility trace. The difference lies in how each algorithm obtains these two signals.</a:t>
            </a:r>
            <a:endParaRPr lang="en-US" altLang="zh-CN" dirty="0"/>
          </a:p>
          <a:p>
            <a:r>
              <a:rPr lang="en-US" altLang="zh-CN" dirty="0"/>
              <a:t>RTRL (1989): The first online gradient algorithm. Exact but incredibly expensive — requires tracking sensitivity for every weight-output pair.</a:t>
            </a:r>
            <a:endParaRPr lang="en-US" altLang="zh-CN" dirty="0"/>
          </a:p>
          <a:p>
            <a:r>
              <a:rPr lang="en-US" altLang="zh-CN" dirty="0"/>
              <a:t>e-prop (2020): Added biological plausibility through slow ALIF neurons. These variables carry information across long time spans.</a:t>
            </a:r>
            <a:endParaRPr lang="en-US" altLang="zh-CN" dirty="0"/>
          </a:p>
          <a:p>
            <a:r>
              <a:rPr lang="en-US" altLang="zh-CN" dirty="0"/>
              <a:t>OTTT (2022): Discovered that most of BPTT's temporal complexity can be safely ignored. The remaining part is just exponential decay. Memory becomes independent of sequence length.</a:t>
            </a:r>
            <a:endParaRPr lang="en-US" altLang="zh-CN" dirty="0"/>
          </a:p>
          <a:p>
            <a:r>
              <a:rPr lang="en-US" altLang="zh-CN" dirty="0"/>
              <a:t>NDOT (2024): Replaced OTTT's fixed decay with a dynamic one based on actual neuron states. More accurate credit assignment with the same low memory.</a:t>
            </a:r>
            <a:endParaRPr lang="en-US" altLang="zh-CN" dirty="0"/>
          </a:p>
          <a:p>
            <a:r>
              <a:rPr lang="en-US" altLang="zh-CN" dirty="0"/>
              <a:t>S-TLLR (2025): Broke BPTT's causality-only assumption. Added non-causal STDP terms. Different tasks prefer different settings — vision likes causality, audio likes synchrony.</a:t>
            </a:r>
            <a:endParaRPr lang="en-US" altLang="zh-CN" dirty="0"/>
          </a:p>
          <a:p>
            <a:r>
              <a:rPr lang="en-US" altLang="zh-CN" dirty="0"/>
              <a:t>TESS (2025): The ultimate goal achieved. No layer-to-layer error propagation. Each layer learns from locally generated signals. Fully parallelizable and hardware-friendly.</a:t>
            </a:r>
            <a:endParaRPr lang="en-US" altLang="zh-C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7607</Words>
  <Application>WPS 演示</Application>
  <PresentationFormat>Widescreen</PresentationFormat>
  <Paragraphs>279</Paragraphs>
  <Slides>19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19</vt:i4>
      </vt:variant>
    </vt:vector>
  </HeadingPairs>
  <TitlesOfParts>
    <vt:vector size="37" baseType="lpstr">
      <vt:lpstr>Arial</vt:lpstr>
      <vt:lpstr>宋体</vt:lpstr>
      <vt:lpstr>Wingdings</vt:lpstr>
      <vt:lpstr>Arial</vt:lpstr>
      <vt:lpstr>Calibri Light</vt:lpstr>
      <vt:lpstr>等线</vt:lpstr>
      <vt:lpstr>Calibri</vt:lpstr>
      <vt:lpstr>Cambria Math</vt:lpstr>
      <vt:lpstr>CMMI12</vt:lpstr>
      <vt:lpstr>Segoe Print</vt:lpstr>
      <vt:lpstr>仿宋</vt:lpstr>
      <vt:lpstr>TimesNewRomanPSMT</vt:lpstr>
      <vt:lpstr>MS Mincho</vt:lpstr>
      <vt:lpstr>微软雅黑</vt:lpstr>
      <vt:lpstr>Arial Unicode MS</vt:lpstr>
      <vt:lpstr>Times New Roman</vt:lpstr>
      <vt:lpstr>Office Theme</vt:lpstr>
      <vt:lpstr>1_Office Theme</vt:lpstr>
      <vt:lpstr>Neuromorphic Computing &amp; Hardware  L4: SNN Training </vt:lpstr>
      <vt:lpstr>Objectives</vt:lpstr>
      <vt:lpstr>SNN Training Challenge</vt:lpstr>
      <vt:lpstr>Surrogate Gradient Learning</vt:lpstr>
      <vt:lpstr>Sigmoid Surrogate Example </vt:lpstr>
      <vt:lpstr>Direct SNN Training via STBP</vt:lpstr>
      <vt:lpstr>Backpropagation Through Time (BPTT)</vt:lpstr>
      <vt:lpstr>Backpropagation Through Time (BPTT)</vt:lpstr>
      <vt:lpstr>Limitations of BPTT</vt:lpstr>
      <vt:lpstr>Online Learning for SNNs</vt:lpstr>
      <vt:lpstr>Eligibility Trace: Replacing BPTT Memory</vt:lpstr>
      <vt:lpstr>Represent Work—RTRL  Real-Time Recurrent Learning</vt:lpstr>
      <vt:lpstr>Represent Work—e-Prop</vt:lpstr>
      <vt:lpstr>Represent Work—OTTT(Online Training Through Time)</vt:lpstr>
      <vt:lpstr>Represent Work—NDOT(Neuronal Dynamics-based Online Training)</vt:lpstr>
      <vt:lpstr>Represent Work—S-TLLR:  STDP-inspired Temporal Local Learning Rule for Spiking Neural Networks</vt:lpstr>
      <vt:lpstr>Represent Work—TESS: Temporally and Spatially Local Learning Rule for Spiking Neural Networks</vt:lpstr>
      <vt:lpstr>Discussion Questions</vt:lpstr>
      <vt:lpstr>Key Takeaways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Neuromorphic Computing &amp; Hardware  L3: Spike Encoding, Network Architectures and Training</dc:title>
  <dc:creator>Song, Yuhang</dc:creator>
  <cp:lastModifiedBy>騊駼翻羽</cp:lastModifiedBy>
  <cp:revision>69</cp:revision>
  <dcterms:created xsi:type="dcterms:W3CDTF">2025-11-20T12:06:00Z</dcterms:created>
  <dcterms:modified xsi:type="dcterms:W3CDTF">2026-08-29T15:41:53Z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6EF3A4D058004F9384FDCB4E28B67DD0_12</vt:lpwstr>
  </property>
  <property fmtid="{D5CDD505-2E9C-101B-9397-08002B2CF9AE}" pid="3" name="KSOProductBuildVer">
    <vt:lpwstr>2052-12.1.0.28043</vt:lpwstr>
  </property>
</Properties>
</file>