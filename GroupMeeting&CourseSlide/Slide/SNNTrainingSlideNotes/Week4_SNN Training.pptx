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7" r:id="rId4"/>
    <p:sldId id="258" r:id="rId6"/>
    <p:sldId id="548" r:id="rId7"/>
    <p:sldId id="567" r:id="rId8"/>
    <p:sldId id="568" r:id="rId9"/>
    <p:sldId id="554" r:id="rId10"/>
    <p:sldId id="555" r:id="rId11"/>
    <p:sldId id="569" r:id="rId12"/>
    <p:sldId id="570" r:id="rId13"/>
    <p:sldId id="571" r:id="rId14"/>
    <p:sldId id="572" r:id="rId15"/>
    <p:sldId id="579" r:id="rId16"/>
    <p:sldId id="573" r:id="rId17"/>
    <p:sldId id="574" r:id="rId18"/>
    <p:sldId id="576" r:id="rId19"/>
    <p:sldId id="578" r:id="rId20"/>
    <p:sldId id="577" r:id="rId21"/>
    <p:sldId id="565" r:id="rId22"/>
    <p:sldId id="56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70867" autoAdjust="0"/>
  </p:normalViewPr>
  <p:slideViewPr>
    <p:cSldViewPr snapToGrid="0">
      <p:cViewPr varScale="1">
        <p:scale>
          <a:sx n="68" d="100"/>
          <a:sy n="68" d="100"/>
        </p:scale>
        <p:origin x="831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F1B72-1F8A-48DA-94DF-9780825048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ECFFD-F771-4A99-B596-9BEE746580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7C95F4-9479-47C4-9CC0-82E2C08545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7C95F4-9479-47C4-9CC0-82E2C085454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derivative of the step function with a smooth approximation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Key Insight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Forward pass remains biologically plausible.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Backward pass becomes differentiable.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gradient-based optimization.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0" i="1" u="none" strike="noStrike" baseline="0" dirty="0">
                <a:latin typeface="CMMI12"/>
                <a:ea typeface="仿宋" panose="02010609060101010101" pitchFamily="49" charset="-122"/>
              </a:rPr>
              <a:t>α </a:t>
            </a:r>
            <a:r>
              <a:rPr lang="zh-CN" altLang="en-US" sz="1800" b="0" i="0" u="none" strike="noStrike" baseline="0" dirty="0">
                <a:latin typeface="仿宋" panose="02010609060101010101" pitchFamily="49" charset="-122"/>
                <a:ea typeface="仿宋" panose="02010609060101010101" pitchFamily="49" charset="-122"/>
              </a:rPr>
              <a:t>是控制曲线陡峭程度的超参数</a:t>
            </a:r>
            <a:endParaRPr lang="en-US" altLang="zh-CN" sz="1800" b="0" i="0" u="none" strike="noStrike" baseline="0" dirty="0">
              <a:latin typeface="TimesNewRomanPSMT"/>
              <a:ea typeface="仿宋" panose="02010609060101010101" pitchFamily="49" charset="-122"/>
            </a:endParaRPr>
          </a:p>
          <a:p>
            <a:pPr algn="l"/>
            <a:r>
              <a:rPr lang="zh-CN" altLang="en-US" sz="1800" b="0" i="0" u="none" strike="noStrike" baseline="0" dirty="0">
                <a:latin typeface="仿宋" panose="02010609060101010101" pitchFamily="49" charset="-122"/>
                <a:ea typeface="仿宋" panose="02010609060101010101" pitchFamily="49" charset="-122"/>
              </a:rPr>
              <a:t>通过调节</a:t>
            </a:r>
            <a:r>
              <a:rPr lang="en-US" altLang="zh-CN" sz="1800" b="0" i="1" u="none" strike="noStrike" baseline="0" dirty="0">
                <a:latin typeface="CMMI12"/>
                <a:ea typeface="仿宋" panose="02010609060101010101" pitchFamily="49" charset="-122"/>
              </a:rPr>
              <a:t>α</a:t>
            </a:r>
            <a:r>
              <a:rPr lang="zh-CN" altLang="en-US" sz="1800" b="0" i="0" u="none" strike="noStrike" baseline="0" dirty="0">
                <a:latin typeface="仿宋" panose="02010609060101010101" pitchFamily="49" charset="-122"/>
                <a:ea typeface="仿宋" panose="02010609060101010101" pitchFamily="49" charset="-122"/>
              </a:rPr>
              <a:t>，模型可以在梯度的</a:t>
            </a:r>
            <a:endParaRPr lang="zh-CN" altLang="en-US" sz="1800" b="0" i="0" u="none" strike="noStrike" baseline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l"/>
            <a:r>
              <a:rPr lang="zh-CN" altLang="en-US" sz="1800" b="0" i="0" u="none" strike="noStrike" baseline="0" dirty="0">
                <a:latin typeface="仿宋" panose="02010609060101010101" pitchFamily="49" charset="-122"/>
                <a:ea typeface="仿宋" panose="02010609060101010101" pitchFamily="49" charset="-122"/>
              </a:rPr>
              <a:t>准确性与传播的有效性之间取得平衡，从而实现</a:t>
            </a:r>
            <a:r>
              <a:rPr lang="en-US" altLang="zh-CN" sz="1800" b="0" i="0" u="none" strike="noStrike" baseline="0" dirty="0">
                <a:latin typeface="TimesNewRomanPSMT"/>
                <a:ea typeface="仿宋" panose="02010609060101010101" pitchFamily="49" charset="-122"/>
              </a:rPr>
              <a:t>SNN </a:t>
            </a:r>
            <a:r>
              <a:rPr lang="zh-CN" altLang="en-US" sz="1800" b="0" i="0" u="none" strike="noStrike" baseline="0" dirty="0">
                <a:latin typeface="仿宋" panose="02010609060101010101" pitchFamily="49" charset="-122"/>
                <a:ea typeface="仿宋" panose="02010609060101010101" pitchFamily="49" charset="-122"/>
              </a:rPr>
              <a:t>的高性能训练。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compute gradients:</a:t>
            </a:r>
            <a:endParaRPr lang="en-US" dirty="0"/>
          </a:p>
          <a:p>
            <a:r>
              <a:rPr lang="en-US" dirty="0"/>
              <a:t>✓ Store membrane potentials</a:t>
            </a:r>
            <a:endParaRPr lang="en-US" dirty="0"/>
          </a:p>
          <a:p>
            <a:r>
              <a:rPr lang="en-US" dirty="0"/>
              <a:t>✓ Store spikes</a:t>
            </a:r>
            <a:endParaRPr lang="en-US" dirty="0"/>
          </a:p>
          <a:p>
            <a:r>
              <a:rPr lang="en-US" dirty="0"/>
              <a:t>✓ Store computation graph</a:t>
            </a:r>
            <a:endParaRPr lang="en-US" dirty="0"/>
          </a:p>
          <a:p>
            <a:r>
              <a:rPr lang="en-US" dirty="0"/>
              <a:t>for every timestep.</a:t>
            </a:r>
            <a:endParaRPr lang="en-US" dirty="0"/>
          </a:p>
          <a:p>
            <a:endParaRPr lang="en-US" dirty="0"/>
          </a:p>
          <a:p>
            <a:r>
              <a:rPr lang="en-US" dirty="0"/>
              <a:t>Temporal dependencies are coupled across all timesteps.</a:t>
            </a:r>
            <a:br>
              <a:rPr lang="en-US" dirty="0"/>
            </a:br>
            <a:r>
              <a:rPr lang="en-US" dirty="0"/>
              <a:t>may cause: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vanishing gradients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exploding gradients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local information: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BPTT remembers every timestep and computes gradients later; Online Learning summarizes the past into an eligibility trace and updates weights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BPTT remembers every timestep and computes gradients later; Online Learning summarizes the past into an eligibility trace and updates weights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ECFFD-F771-4A99-B596-9BEE74658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DC942-475A-4069-94A2-11EB87937FD4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D187-79CA-49C9-AC45-7398EC219FEB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F72E-264F-40E9-86EF-DDFC8BEA29BE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EDC1F-6584-473C-AC6C-8F1A8A7EB5C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681B-E263-42AF-ACA7-AB753620E14D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2BBB-8843-40DB-B672-A0CA5D7101CE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B7B1-DA79-4221-A5A5-460CD134413C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8B25-E15D-49B8-BC14-F9CBE12C3CE7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504F-6E90-4C51-838A-7127758B1AC9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43C7-A0FE-4403-800C-056E5346ED83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B2655-FAB5-4AA0-B2E3-3B849CA19F9E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DC942-475A-4069-94A2-11EB87937FD4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D187-79CA-49C9-AC45-7398EC219FEB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F72E-264F-40E9-86EF-DDFC8BEA29BE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EDC1F-6584-473C-AC6C-8F1A8A7EB5C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681B-E263-42AF-ACA7-AB753620E14D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2BBB-8843-40DB-B672-A0CA5D7101CE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1B7B1-DA79-4221-A5A5-460CD134413C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A8B25-E15D-49B8-BC14-F9CBE12C3CE7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504F-6E90-4C51-838A-7127758B1AC9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43C7-A0FE-4403-800C-056E5346ED83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B2655-FAB5-4AA0-B2E3-3B849CA19F9E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466" y="136525"/>
            <a:ext cx="1180506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466" y="1549552"/>
            <a:ext cx="11805068" cy="470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CB939-C62B-4AC8-AC93-4DE9ACFF5AC4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Arial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466" y="136525"/>
            <a:ext cx="1180506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466" y="1549552"/>
            <a:ext cx="11805068" cy="470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CB939-C62B-4AC8-AC93-4DE9ACFF5AC4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Arial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057" y="2145051"/>
            <a:ext cx="11876314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Neuromorphic Computing &amp; Hardware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sz="6000" dirty="0">
                <a:effectLst/>
                <a:ea typeface="Calibri Light" panose="020F0302020204030204" pitchFamily="34" charset="0"/>
              </a:rPr>
              <a:t>L4: </a:t>
            </a:r>
            <a:r>
              <a:rPr lang="en-US" dirty="0"/>
              <a:t>SNN Training</a:t>
            </a:r>
            <a:br>
              <a:rPr lang="en-US" altLang="zh-CN" sz="6000" dirty="0">
                <a:effectLst/>
                <a:ea typeface="Calibri Light" panose="020F0302020204030204" pitchFamily="34" charset="0"/>
              </a:rPr>
            </a:b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40501"/>
            <a:ext cx="9144000" cy="1655762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Intelli-Chip</a:t>
            </a:r>
            <a:r>
              <a:rPr lang="zh-CN" altLang="en-US" dirty="0"/>
              <a:t> </a:t>
            </a:r>
            <a:r>
              <a:rPr lang="en-US" altLang="zh-CN" dirty="0"/>
              <a:t>Lab</a:t>
            </a:r>
            <a:endParaRPr lang="en-US" altLang="zh-CN" dirty="0"/>
          </a:p>
          <a:p>
            <a:r>
              <a:rPr lang="en-US" altLang="zh-CN" dirty="0"/>
              <a:t>Fall 2026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 fontAlgn="ctr">
              <a:buNone/>
            </a:pPr>
            <a:r>
              <a:rPr lang="en-US" altLang="zh-CN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After this lecture, students should be able to:</a:t>
            </a:r>
            <a:endParaRPr lang="en-US" altLang="zh-CN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rtl="0" fontAlgn="ctr">
              <a:buNone/>
            </a:pPr>
            <a:r>
              <a:rPr lang="en-US" altLang="zh-CN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✓ Understand surrogate-gradient training</a:t>
            </a:r>
            <a:endParaRPr lang="en-US" altLang="zh-CN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rtl="0" fontAlgn="ctr">
              <a:buNone/>
            </a:pPr>
            <a:r>
              <a:rPr lang="en-US" altLang="zh-CN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✓ Recognize tradeoffs between accuracy, latency and hardware efficiency</a:t>
            </a:r>
            <a:endParaRPr lang="en-US" altLang="zh-CN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altLang="zh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等线" panose="02010600030101010101" charset="-122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altLang="zh-CN"/>
              <a:t>SNN Training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SNN </a:t>
            </a:r>
            <a:r>
              <a:rPr dirty="0"/>
              <a:t>Training Challenge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Deep learning relies on gradient descent.</a:t>
                </a:r>
                <a:endParaRPr lang="en-US" dirty="0"/>
              </a:p>
              <a:p>
                <a:r>
                  <a:rPr lang="en-US" dirty="0"/>
                  <a:t>SNN neurons generate binary spikes through a threshold function.</a:t>
                </a:r>
                <a:endParaRPr lang="en-US" dirty="0"/>
              </a:p>
              <a:p>
                <a:r>
                  <a:rPr lang="en-US" dirty="0"/>
                  <a:t>Spike function is non-differentiable.</a:t>
                </a:r>
                <a:endParaRPr lang="en-US" dirty="0"/>
              </a:p>
              <a:p>
                <a:r>
                  <a:rPr lang="en-US" dirty="0"/>
                  <a:t>Standard backpropagation cannot directly compute gradients.</a:t>
                </a:r>
                <a:endParaRPr lang="en-US" dirty="0"/>
              </a:p>
              <a:p>
                <a:r>
                  <a:rPr lang="en-US" dirty="0"/>
                  <a:t>Membrane potential: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]+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Spike generation: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]−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𝑉𝑡ℎ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l-GR" dirty="0"/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Key Problem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l-GR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3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Surrogate Gradient Learning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Core Idea</a:t>
                </a:r>
                <a:endParaRPr lang="en-US" b="1" dirty="0"/>
              </a:p>
              <a:p>
                <a:r>
                  <a:rPr lang="en-US" dirty="0"/>
                  <a:t>Forward pass: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]=</m:t>
                    </m:r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]−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𝑉𝑡ℎ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Backward pass: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𝑉𝑡ℎ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​)</m:t>
                      </m:r>
                    </m:oMath>
                  </m:oMathPara>
                </a14:m>
                <a:endParaRPr lang="el-GR" dirty="0"/>
              </a:p>
              <a:p>
                <a:r>
                  <a:rPr lang="en-US" dirty="0"/>
                  <a:t>Common Surrogate Functions</a:t>
                </a:r>
                <a:endParaRPr lang="en-US" dirty="0"/>
              </a:p>
              <a:p>
                <a:pPr lvl="1"/>
                <a:r>
                  <a:rPr lang="en-US" dirty="0"/>
                  <a:t>Sigmoid: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l-GR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Fast Sigmoid: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|)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ArcTan</a:t>
                </a:r>
                <a:r>
                  <a:rPr lang="en-US" dirty="0"/>
                  <a:t>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Piecewise Linear: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−|&amp;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|,  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𝑜𝑡ℎ𝑒𝑤𝑖𝑠𝑒</m:t>
                            </m:r>
                          </m:e>
                        </m:eqArr>
                      </m:e>
                    </m:d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3" r="2" b="-6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Surrogate Example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3466" y="2403566"/>
                <a:ext cx="3054831" cy="38493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l-G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4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l-G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dirty="0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466" y="2403566"/>
                <a:ext cx="3054831" cy="3849397"/>
              </a:xfrm>
              <a:blipFill rotWithShape="1">
                <a:blip r:embed="rId1"/>
                <a:stretch>
                  <a:fillRect l="-14" t="-2" r="9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713" y="1549552"/>
            <a:ext cx="9078287" cy="4400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Direct SNN Training</a:t>
            </a:r>
            <a:r>
              <a:rPr lang="en-US" dirty="0"/>
              <a:t> via STBP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Train SNN parameters directly from task loss.</a:t>
                </a:r>
                <a:endParaRPr lang="en-US" dirty="0"/>
              </a:p>
              <a:p>
                <a:r>
                  <a:rPr lang="en-US" b="1" dirty="0" err="1"/>
                  <a:t>Spatio</a:t>
                </a:r>
                <a:r>
                  <a:rPr lang="en-US" b="1" dirty="0"/>
                  <a:t>-Temporal Backpropagation (STBP)</a:t>
                </a:r>
                <a:endParaRPr lang="en-US" b="1" dirty="0"/>
              </a:p>
              <a:p>
                <a:r>
                  <a:rPr lang="en-US" dirty="0"/>
                  <a:t>View SNN as a recurrent neural network.</a:t>
                </a:r>
                <a:endParaRPr lang="en-US" dirty="0"/>
              </a:p>
              <a:p>
                <a:r>
                  <a:rPr lang="en-US" dirty="0"/>
                  <a:t>Error propagates through:</a:t>
                </a:r>
                <a:endParaRPr lang="en-US" dirty="0"/>
              </a:p>
              <a:p>
                <a:pPr lvl="1"/>
                <a:r>
                  <a:rPr lang="en-US" dirty="0"/>
                  <a:t>spatial connections </a:t>
                </a:r>
                <a:endParaRPr lang="en-US" dirty="0"/>
              </a:p>
              <a:p>
                <a:pPr lvl="1"/>
                <a:r>
                  <a:rPr lang="en-US" dirty="0"/>
                  <a:t>temporal neuron states</a:t>
                </a:r>
                <a:endParaRPr lang="en-US" dirty="0"/>
              </a:p>
              <a:p>
                <a:r>
                  <a:rPr lang="en-US" b="1" dirty="0"/>
                  <a:t>Temporal Unrolling</a:t>
                </a:r>
                <a:endParaRPr lang="en-US" b="1" dirty="0"/>
              </a:p>
              <a:p>
                <a:r>
                  <a:rPr lang="en-US" dirty="0"/>
                  <a:t>The recurrent neuron is unfolded through time: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recurrent SNN becomes a deep feedforward graph with shared weights.</a:t>
                </a:r>
                <a:endParaRPr lang="en-US" dirty="0"/>
              </a:p>
              <a:p>
                <a:endParaRPr lang="en-US" dirty="0"/>
              </a:p>
              <a:p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219" r="2" b="-17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Backpropagation Through Time</a:t>
            </a:r>
            <a:r>
              <a:rPr lang="en-US" dirty="0"/>
              <a:t> (BPTT)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Unroll the network over time and accumulate gradients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/>
          <a:srcRect r="76518"/>
          <a:stretch>
            <a:fillRect/>
          </a:stretch>
        </p:blipFill>
        <p:spPr>
          <a:xfrm>
            <a:off x="1089662" y="2458452"/>
            <a:ext cx="2862942" cy="34215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"/>
          <a:srcRect l="51447" r="25071"/>
          <a:stretch>
            <a:fillRect/>
          </a:stretch>
        </p:blipFill>
        <p:spPr>
          <a:xfrm>
            <a:off x="6807927" y="2458452"/>
            <a:ext cx="2862942" cy="3421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Backpropagation Through Time</a:t>
            </a:r>
            <a:r>
              <a:rPr lang="en-US" dirty="0"/>
              <a:t> (BPTT)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Unroll the network over time and accumulate gradients</a:t>
                </a:r>
                <a:endParaRPr lang="en-US" dirty="0"/>
              </a:p>
              <a:p>
                <a:r>
                  <a:rPr lang="en-US" b="1" dirty="0"/>
                  <a:t>Gradient Computation</a:t>
                </a: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en-US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Spatial Gradient</a:t>
                </a:r>
                <a:endParaRPr lang="en-US" dirty="0"/>
              </a:p>
              <a:p>
                <a:r>
                  <a:rPr lang="en-US" dirty="0"/>
                  <a:t>Temporal Gradient</a:t>
                </a:r>
                <a:endParaRPr lang="en-US" dirty="0"/>
              </a:p>
              <a:p>
                <a:r>
                  <a:rPr lang="en-US" dirty="0"/>
                  <a:t>Captures </a:t>
                </a:r>
                <a:r>
                  <a:rPr lang="en-US" dirty="0" err="1"/>
                  <a:t>coplete</a:t>
                </a:r>
                <a:r>
                  <a:rPr lang="en-US" dirty="0"/>
                  <a:t> </a:t>
                </a:r>
                <a:r>
                  <a:rPr lang="en-US" dirty="0" err="1"/>
                  <a:t>spatio</a:t>
                </a:r>
                <a:r>
                  <a:rPr lang="en-US" dirty="0"/>
                  <a:t>-temporal dynamics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3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BPTT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Memory complexity: 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Long Dependency Problem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Hardware Challenge</a:t>
                </a:r>
                <a:endParaRPr lang="en-US" dirty="0"/>
              </a:p>
              <a:p>
                <a:pPr lvl="1"/>
                <a:r>
                  <a:rPr lang="en-US" dirty="0"/>
                  <a:t>Requires full sequence storage. </a:t>
                </a:r>
                <a:endParaRPr lang="en-US" dirty="0"/>
              </a:p>
              <a:p>
                <a:pPr lvl="1"/>
                <a:r>
                  <a:rPr lang="en-US" dirty="0"/>
                  <a:t>Not suitable for edge neuromorphic devices. </a:t>
                </a:r>
                <a:endParaRPr lang="en-US" dirty="0"/>
              </a:p>
              <a:p>
                <a:pPr lvl="1"/>
                <a:r>
                  <a:rPr lang="en-US" dirty="0"/>
                  <a:t>Violates biological real-time processing.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3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Learning for SNNs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Can we update weights immediately without storing all history?</a:t>
                </a:r>
                <a:endParaRPr lang="en-US" dirty="0"/>
              </a:p>
              <a:p>
                <a:r>
                  <a:rPr lang="en-US" dirty="0"/>
                  <a:t>Core Idea</a:t>
                </a:r>
                <a:endParaRPr lang="en-US" dirty="0"/>
              </a:p>
              <a:p>
                <a:r>
                  <a:rPr lang="en-US" dirty="0"/>
                  <a:t>Instead of computing</a:t>
                </a: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after observing all timesteps,</a:t>
                </a:r>
                <a:endParaRPr lang="en-US" dirty="0"/>
              </a:p>
              <a:p>
                <a:r>
                  <a:rPr lang="en-US" dirty="0"/>
                  <a:t>compute updates immediately at timestep t: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using only local information.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3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Eligibility Trace: Replacing BPTT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 Work—RTRL </a:t>
            </a:r>
            <a:br>
              <a:rPr lang="en-US" dirty="0"/>
            </a:br>
            <a:r>
              <a:rPr lang="en-US" altLang="zh-CN" dirty="0"/>
              <a:t>Real-Time Recurrent Learning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 Work—e-Prop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 Work—OTTT</a:t>
            </a:r>
            <a:r>
              <a:rPr lang="en-US" sz="1800" dirty="0"/>
              <a:t>(</a:t>
            </a:r>
            <a:r>
              <a:rPr lang="en-US" altLang="zh-CN" sz="1800" dirty="0"/>
              <a:t>Online Training Through Time)</a:t>
            </a:r>
            <a:endParaRPr lang="en-US" altLang="zh-CN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ClrTx/>
              <a:buSzTx/>
              <a:buFontTx/>
            </a:pPr>
            <a:r>
              <a:rPr lang="en-US" dirty="0"/>
              <a:t>Represent Work—</a:t>
            </a:r>
            <a:r>
              <a:rPr lang="en-US" altLang="zh-CN" dirty="0"/>
              <a:t>NDOT</a:t>
            </a:r>
            <a:r>
              <a:rPr lang="en-US" altLang="zh-CN" sz="2000" dirty="0"/>
              <a:t>(Neuronal Dynamics-based Online Training)</a:t>
            </a:r>
            <a:endParaRPr lang="en-US" altLang="zh-C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 Work</a:t>
            </a:r>
            <a:r>
              <a:rPr lang="en-US"/>
              <a:t>—</a:t>
            </a:r>
            <a:r>
              <a:rPr lang="en-US" altLang="zh-CN"/>
              <a:t>S-TLLR: </a:t>
            </a:r>
            <a:br>
              <a:rPr lang="en-US" altLang="zh-CN"/>
            </a:br>
            <a:r>
              <a:rPr lang="en-US" altLang="zh-CN" sz="2000"/>
              <a:t>STDP-inspired Temporal Local Learning Rule for Spiking Neural Networks</a:t>
            </a:r>
            <a:endParaRPr lang="en-US" altLang="zh-CN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Represent Work</a:t>
            </a:r>
            <a:r>
              <a:rPr lang="en-US"/>
              <a:t>—</a:t>
            </a:r>
            <a:r>
              <a:rPr lang="en-US" altLang="zh-CN"/>
              <a:t>TESS:</a:t>
            </a:r>
            <a:br>
              <a:rPr lang="en-US" altLang="zh-CN"/>
            </a:br>
            <a:r>
              <a:rPr lang="en-US" altLang="zh-CN" sz="2000"/>
              <a:t>Temporally and Spatially Local Learning Rule for Spiking Neural Networks</a:t>
            </a:r>
            <a:endParaRPr lang="en-US" altLang="zh-CN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Discussion Questions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SNN Training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2880</Words>
  <Application>WPS 演示</Application>
  <PresentationFormat>Widescreen</PresentationFormat>
  <Paragraphs>193</Paragraphs>
  <Slides>19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Arial</vt:lpstr>
      <vt:lpstr>Calibri Light</vt:lpstr>
      <vt:lpstr>等线</vt:lpstr>
      <vt:lpstr>Calibri</vt:lpstr>
      <vt:lpstr>Cambria Math</vt:lpstr>
      <vt:lpstr>CMMI12</vt:lpstr>
      <vt:lpstr>Segoe Print</vt:lpstr>
      <vt:lpstr>仿宋</vt:lpstr>
      <vt:lpstr>TimesNewRomanPSMT</vt:lpstr>
      <vt:lpstr>微软雅黑</vt:lpstr>
      <vt:lpstr>Arial Unicode MS</vt:lpstr>
      <vt:lpstr>Times New Roman</vt:lpstr>
      <vt:lpstr>等线 Light</vt:lpstr>
      <vt:lpstr>Office Theme</vt:lpstr>
      <vt:lpstr>1_Office Theme</vt:lpstr>
      <vt:lpstr>Neuromorphic Computing &amp; Hardware  L4: SNN Training </vt:lpstr>
      <vt:lpstr>Objectives</vt:lpstr>
      <vt:lpstr>SNN Training Challenge</vt:lpstr>
      <vt:lpstr>Surrogate Gradient Learning</vt:lpstr>
      <vt:lpstr>Sigmoid Surrogate Example </vt:lpstr>
      <vt:lpstr>Direct SNN Training via STBP</vt:lpstr>
      <vt:lpstr>Backpropagation Through Time (BPTT)</vt:lpstr>
      <vt:lpstr>Backpropagation Through Time (BPTT)</vt:lpstr>
      <vt:lpstr>Limitations of BPTT</vt:lpstr>
      <vt:lpstr>Online Learning for SNNs</vt:lpstr>
      <vt:lpstr>Eligibility Trace: Replacing BPTT Memory</vt:lpstr>
      <vt:lpstr>Represent Work—RTRL</vt:lpstr>
      <vt:lpstr>Represent Work—e-Prop</vt:lpstr>
      <vt:lpstr>Represent Work—OTTT(Online Training Through Time)</vt:lpstr>
      <vt:lpstr>Represent Work—NDOT(Neuronal Dynamics-based Online Training)</vt:lpstr>
      <vt:lpstr>Represent Work—S-TLLR:  STDP-inspired Temporal Local Learning Rule for Spiking Neural Networks</vt:lpstr>
      <vt:lpstr>Represent Work—TESS: Temporally and Spatially Local Learning Rule for Spiking Neural Networks</vt:lpstr>
      <vt:lpstr>Discussion Questions</vt:lpstr>
      <vt:lpstr>Key Takeaways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Neuromorphic Computing &amp; Hardware  L3: Spike Encoding, Network Architectures and Training</dc:title>
  <dc:creator>Song, Yuhang</dc:creator>
  <cp:lastModifiedBy>喝茶君</cp:lastModifiedBy>
  <cp:revision>46</cp:revision>
  <dcterms:created xsi:type="dcterms:W3CDTF">2025-11-20T12:06:00Z</dcterms:created>
  <dcterms:modified xsi:type="dcterms:W3CDTF">2026-07-21T13:35:55Z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6EF3A4D058004F9384FDCB4E28B67DD0_12</vt:lpwstr>
  </property>
  <property fmtid="{D5CDD505-2E9C-101B-9397-08002B2CF9AE}" pid="3" name="KSOProductBuildVer">
    <vt:lpwstr>2052-12.1.0.26895</vt:lpwstr>
  </property>
</Properties>
</file>